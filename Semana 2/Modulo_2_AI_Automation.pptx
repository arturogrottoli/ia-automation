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Plus Jakarta Sans ExtraBold"/>
      <p:bold r:id="rId45"/>
      <p:boldItalic r:id="rId46"/>
    </p:embeddedFont>
    <p:embeddedFont>
      <p:font typeface="Plus Jakarta Sans"/>
      <p:regular r:id="rId47"/>
      <p:bold r:id="rId48"/>
      <p:italic r:id="rId49"/>
      <p:boldItalic r:id="rId50"/>
    </p:embeddedFont>
    <p:embeddedFont>
      <p:font typeface="Plus Jakarta Sans Light"/>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5" roundtripDataSignature="AMtx7mjPhltlfM20BXQT9JENHB44i0T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lusJakartaSansExtraBold-boldItalic.fntdata"/><Relationship Id="rId45" Type="http://schemas.openxmlformats.org/officeDocument/2006/relationships/font" Target="fonts/PlusJakartaSans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lusJakartaSans-bold.fntdata"/><Relationship Id="rId47" Type="http://schemas.openxmlformats.org/officeDocument/2006/relationships/font" Target="fonts/PlusJakartaSans-regular.fntdata"/><Relationship Id="rId49" Type="http://schemas.openxmlformats.org/officeDocument/2006/relationships/font" Target="fonts/PlusJakarta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usJakartaSansLight-regular.fntdata"/><Relationship Id="rId50" Type="http://schemas.openxmlformats.org/officeDocument/2006/relationships/font" Target="fonts/PlusJakartaSans-boldItalic.fntdata"/><Relationship Id="rId53" Type="http://schemas.openxmlformats.org/officeDocument/2006/relationships/font" Target="fonts/PlusJakartaSansLight-italic.fntdata"/><Relationship Id="rId52" Type="http://schemas.openxmlformats.org/officeDocument/2006/relationships/font" Target="fonts/PlusJakartaSansLight-bold.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PlusJakartaSans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42"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1" name="Shape 11"/>
        <p:cNvGrpSpPr/>
        <p:nvPr/>
      </p:nvGrpSpPr>
      <p:grpSpPr>
        <a:xfrm>
          <a:off x="0" y="0"/>
          <a:ext cx="0" cy="0"/>
          <a:chOff x="0" y="0"/>
          <a:chExt cx="0" cy="0"/>
        </a:xfrm>
      </p:grpSpPr>
      <p:sp>
        <p:nvSpPr>
          <p:cNvPr id="12" name="Google Shape;12;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3" name="Google Shape;13;p43"/>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4" name="Google Shape;14;p43"/>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5" name="Google Shape;15;p43"/>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43"/>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7" name="Shape 17"/>
        <p:cNvGrpSpPr/>
        <p:nvPr/>
      </p:nvGrpSpPr>
      <p:grpSpPr>
        <a:xfrm>
          <a:off x="0" y="0"/>
          <a:ext cx="0" cy="0"/>
          <a:chOff x="0" y="0"/>
          <a:chExt cx="0" cy="0"/>
        </a:xfrm>
      </p:grpSpPr>
      <p:sp>
        <p:nvSpPr>
          <p:cNvPr id="18" name="Google Shape;18;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9" name="Shape 19"/>
        <p:cNvGrpSpPr/>
        <p:nvPr/>
      </p:nvGrpSpPr>
      <p:grpSpPr>
        <a:xfrm>
          <a:off x="0" y="0"/>
          <a:ext cx="0" cy="0"/>
          <a:chOff x="0" y="0"/>
          <a:chExt cx="0" cy="0"/>
        </a:xfrm>
      </p:grpSpPr>
      <p:sp>
        <p:nvSpPr>
          <p:cNvPr id="20" name="Google Shape;2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21" name="Shape 21"/>
        <p:cNvGrpSpPr/>
        <p:nvPr/>
      </p:nvGrpSpPr>
      <p:grpSpPr>
        <a:xfrm>
          <a:off x="0" y="0"/>
          <a:ext cx="0" cy="0"/>
          <a:chOff x="0" y="0"/>
          <a:chExt cx="0" cy="0"/>
        </a:xfrm>
      </p:grpSpPr>
      <p:sp>
        <p:nvSpPr>
          <p:cNvPr id="22" name="Google Shape;2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23" name="Shape 23"/>
        <p:cNvGrpSpPr/>
        <p:nvPr/>
      </p:nvGrpSpPr>
      <p:grpSpPr>
        <a:xfrm>
          <a:off x="0" y="0"/>
          <a:ext cx="0" cy="0"/>
          <a:chOff x="0" y="0"/>
          <a:chExt cx="0" cy="0"/>
        </a:xfrm>
      </p:grpSpPr>
      <p:pic>
        <p:nvPicPr>
          <p:cNvPr id="24" name="Google Shape;24;p47"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25" name="Google Shape;25;p47"/>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6" name="Google Shape;26;p47"/>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7" name="Google Shape;27;p47"/>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7"/>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9" name="Shape 29"/>
        <p:cNvGrpSpPr/>
        <p:nvPr/>
      </p:nvGrpSpPr>
      <p:grpSpPr>
        <a:xfrm>
          <a:off x="0" y="0"/>
          <a:ext cx="0" cy="0"/>
          <a:chOff x="0" y="0"/>
          <a:chExt cx="0" cy="0"/>
        </a:xfrm>
      </p:grpSpPr>
      <p:sp>
        <p:nvSpPr>
          <p:cNvPr id="30" name="Google Shape;30;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 name="Shape 31"/>
        <p:cNvGrpSpPr/>
        <p:nvPr/>
      </p:nvGrpSpPr>
      <p:grpSpPr>
        <a:xfrm>
          <a:off x="0" y="0"/>
          <a:ext cx="0" cy="0"/>
          <a:chOff x="0" y="0"/>
          <a:chExt cx="0" cy="0"/>
        </a:xfrm>
      </p:grpSpPr>
      <p:sp>
        <p:nvSpPr>
          <p:cNvPr id="32" name="Google Shape;32;p4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3" name="Google Shape;33;p4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4" name="Google Shape;34;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5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7" name="Google Shape;37;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 name="Shape 38"/>
        <p:cNvGrpSpPr/>
        <p:nvPr/>
      </p:nvGrpSpPr>
      <p:grpSpPr>
        <a:xfrm>
          <a:off x="0" y="0"/>
          <a:ext cx="0" cy="0"/>
          <a:chOff x="0" y="0"/>
          <a:chExt cx="0" cy="0"/>
        </a:xfrm>
      </p:grpSpPr>
      <p:sp>
        <p:nvSpPr>
          <p:cNvPr id="39" name="Google Shape;39;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0" name="Google Shape;40;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 name="Google Shape;44;p5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5" name="Google Shape;45;p5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9" name="Google Shape;49;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 name="Shape 50"/>
        <p:cNvGrpSpPr/>
        <p:nvPr/>
      </p:nvGrpSpPr>
      <p:grpSpPr>
        <a:xfrm>
          <a:off x="0" y="0"/>
          <a:ext cx="0" cy="0"/>
          <a:chOff x="0" y="0"/>
          <a:chExt cx="0" cy="0"/>
        </a:xfrm>
      </p:grpSpPr>
      <p:sp>
        <p:nvSpPr>
          <p:cNvPr id="51" name="Google Shape;51;p5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2" name="Google Shape;52;p5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3" name="Google Shape;53;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5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6" name="Google Shape;56;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 name="Shape 57"/>
        <p:cNvGrpSpPr/>
        <p:nvPr/>
      </p:nvGrpSpPr>
      <p:grpSpPr>
        <a:xfrm>
          <a:off x="0" y="0"/>
          <a:ext cx="0" cy="0"/>
          <a:chOff x="0" y="0"/>
          <a:chExt cx="0" cy="0"/>
        </a:xfrm>
      </p:grpSpPr>
      <p:sp>
        <p:nvSpPr>
          <p:cNvPr id="58" name="Google Shape;58;p5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5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0" name="Google Shape;60;p5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1" name="Google Shape;61;p5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2" name="Google Shape;62;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3" name="Shape 63"/>
        <p:cNvGrpSpPr/>
        <p:nvPr/>
      </p:nvGrpSpPr>
      <p:grpSpPr>
        <a:xfrm>
          <a:off x="0" y="0"/>
          <a:ext cx="0" cy="0"/>
          <a:chOff x="0" y="0"/>
          <a:chExt cx="0" cy="0"/>
        </a:xfrm>
      </p:grpSpPr>
      <p:sp>
        <p:nvSpPr>
          <p:cNvPr id="64" name="Google Shape;64;p5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5" name="Google Shape;65;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6" name="Shape 66"/>
        <p:cNvGrpSpPr/>
        <p:nvPr/>
      </p:nvGrpSpPr>
      <p:grpSpPr>
        <a:xfrm>
          <a:off x="0" y="0"/>
          <a:ext cx="0" cy="0"/>
          <a:chOff x="0" y="0"/>
          <a:chExt cx="0" cy="0"/>
        </a:xfrm>
      </p:grpSpPr>
      <p:sp>
        <p:nvSpPr>
          <p:cNvPr id="67" name="Google Shape;67;p5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8" name="Google Shape;68;p5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9" name="Google Shape;69;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70" name="Shape 70"/>
        <p:cNvGrpSpPr/>
        <p:nvPr/>
      </p:nvGrpSpPr>
      <p:grpSpPr>
        <a:xfrm>
          <a:off x="0" y="0"/>
          <a:ext cx="0" cy="0"/>
          <a:chOff x="0" y="0"/>
          <a:chExt cx="0" cy="0"/>
        </a:xfrm>
      </p:grpSpPr>
      <p:sp>
        <p:nvSpPr>
          <p:cNvPr id="71" name="Google Shape;71;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72" name="Google Shape;72;p59"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73" name="Shape 73"/>
        <p:cNvGrpSpPr/>
        <p:nvPr/>
      </p:nvGrpSpPr>
      <p:grpSpPr>
        <a:xfrm>
          <a:off x="0" y="0"/>
          <a:ext cx="0" cy="0"/>
          <a:chOff x="0" y="0"/>
          <a:chExt cx="0" cy="0"/>
        </a:xfrm>
      </p:grpSpPr>
      <p:pic>
        <p:nvPicPr>
          <p:cNvPr id="74" name="Google Shape;74;p60"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75" name="Google Shape;75;p60"/>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76" name="Google Shape;76;p60"/>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77" name="Google Shape;77;p60"/>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78" name="Google Shape;78;p60"/>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61"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61"/>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61"/>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61"/>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61"/>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340550" y="1539125"/>
            <a:ext cx="64629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5400"/>
              <a:buFont typeface="Arial"/>
              <a:buNone/>
            </a:pPr>
            <a:r>
              <a:rPr b="0" i="0" lang="es" sz="5400" u="none" cap="none" strike="noStrike">
                <a:solidFill>
                  <a:srgbClr val="F8F2E8"/>
                </a:solidFill>
                <a:latin typeface="Plus Jakarta Sans ExtraBold"/>
                <a:ea typeface="Plus Jakarta Sans ExtraBold"/>
                <a:cs typeface="Plus Jakarta Sans ExtraBold"/>
                <a:sym typeface="Plus Jakarta Sans ExtraBold"/>
              </a:rPr>
              <a:t>AI Automation</a:t>
            </a:r>
            <a:endParaRPr/>
          </a:p>
        </p:txBody>
      </p:sp>
      <p:sp>
        <p:nvSpPr>
          <p:cNvPr id="92" name="Google Shape;92;p1"/>
          <p:cNvSpPr txBox="1"/>
          <p:nvPr/>
        </p:nvSpPr>
        <p:spPr>
          <a:xfrm>
            <a:off x="1340550" y="13381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000"/>
              <a:buFont typeface="Arial"/>
              <a:buNone/>
            </a:pPr>
            <a:r>
              <a:rPr b="0" i="0" lang="es" sz="1000" u="none" cap="none" strike="noStrike">
                <a:solidFill>
                  <a:srgbClr val="F8F2E8"/>
                </a:solidFill>
                <a:latin typeface="Plus Jakarta Sans Light"/>
                <a:ea typeface="Plus Jakarta Sans Light"/>
                <a:cs typeface="Plus Jakarta Sans Light"/>
                <a:sym typeface="Plus Jakarta Sans Light"/>
              </a:rPr>
              <a:t>Curso: AI Automation</a:t>
            </a:r>
            <a:endParaRPr/>
          </a:p>
        </p:txBody>
      </p:sp>
      <p:pic>
        <p:nvPicPr>
          <p:cNvPr id="93" name="Google Shape;93;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94" name="Google Shape;94;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i="0" lang="es" sz="1400" u="none" cap="none" strike="noStrike">
                <a:solidFill>
                  <a:srgbClr val="F8F2E8"/>
                </a:solidFill>
                <a:latin typeface="Plus Jakarta Sans"/>
                <a:ea typeface="Plus Jakarta Sans"/>
                <a:cs typeface="Plus Jakarta Sans"/>
                <a:sym typeface="Plus Jakarta Sans"/>
              </a:rPr>
              <a:t>Módulo 2: </a:t>
            </a:r>
            <a:r>
              <a:rPr b="0" i="0" lang="es" sz="1400" u="none" cap="none" strike="noStrike">
                <a:solidFill>
                  <a:srgbClr val="F8F2E8"/>
                </a:solidFill>
                <a:latin typeface="Plus Jakarta Sans Light"/>
                <a:ea typeface="Plus Jakarta Sans Light"/>
                <a:cs typeface="Plus Jakarta Sans Light"/>
                <a:sym typeface="Plus Jakarta Sans Light"/>
              </a:rPr>
              <a:t>Introducción a las automatizaciones y n8n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900000" y="150000"/>
            <a:ext cx="75000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0"/>
              <a:buFont typeface="Arial"/>
              <a:buNone/>
            </a:pPr>
            <a:r>
              <a:rPr b="0" i="0" lang="es" sz="8000" u="none" cap="none" strike="noStrike">
                <a:solidFill>
                  <a:srgbClr val="FF632B"/>
                </a:solidFill>
                <a:latin typeface="Plus Jakarta Sans ExtraBold"/>
                <a:ea typeface="Plus Jakarta Sans ExtraBold"/>
                <a:cs typeface="Plus Jakarta Sans ExtraBold"/>
                <a:sym typeface="Plus Jakarta Sans ExtraBold"/>
              </a:rPr>
              <a:t>Objetivos</a:t>
            </a:r>
            <a:endParaRPr b="0" i="0" sz="8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0" name="Google Shape;100;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1" i="0" lang="es" sz="1300" u="none" cap="none" strike="noStrike">
                <a:solidFill>
                  <a:srgbClr val="FF632B"/>
                </a:solidFill>
                <a:latin typeface="Plus Jakarta Sans"/>
                <a:ea typeface="Plus Jakarta Sans"/>
                <a:cs typeface="Plus Jakarta Sans"/>
                <a:sym typeface="Plus Jakarta Sans"/>
              </a:rPr>
              <a:t>Al finalizar esta clase vas a poder…</a:t>
            </a:r>
            <a:endParaRPr/>
          </a:p>
          <a:p>
            <a:pPr indent="-304800" lvl="0" marL="457200" marR="0" rtl="0" algn="l">
              <a:lnSpc>
                <a:spcPct val="115000"/>
              </a:lnSpc>
              <a:spcBef>
                <a:spcPts val="40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Distinguir una automatización lineal de una cognitiva y explicar qué es orquestar sistemas.</a:t>
            </a:r>
            <a:endParaRPr/>
          </a:p>
          <a:p>
            <a:pPr indent="-304800" lvl="0" marL="457200" marR="0" rtl="0" algn="l">
              <a:lnSpc>
                <a:spcPct val="115000"/>
              </a:lnSpc>
              <a:spcBef>
                <a:spcPts val="40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Evaluar si un proceso vale la pena automatizar usando ROI, frecuencia y costo de oportunidad.</a:t>
            </a:r>
            <a:endParaRPr/>
          </a:p>
          <a:p>
            <a:pPr indent="-304800" lvl="0" marL="457200" marR="0" rtl="0" algn="l">
              <a:lnSpc>
                <a:spcPct val="115000"/>
              </a:lnSpc>
              <a:spcBef>
                <a:spcPts val="40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Reconocer las piezas de n8n: instancia, workflow, nodos y el JSON que viaja entre ellos.</a:t>
            </a:r>
            <a:endParaRPr/>
          </a:p>
          <a:p>
            <a:pPr indent="-304800" lvl="0" marL="457200" marR="0" rtl="0" algn="l">
              <a:lnSpc>
                <a:spcPct val="115000"/>
              </a:lnSpc>
              <a:spcBef>
                <a:spcPts val="40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Traducir un proceso manual a un boceto de flujo con un paso de IA.</a:t>
            </a:r>
            <a:endParaRPr/>
          </a:p>
          <a:p>
            <a:pPr indent="-304800" lvl="0" marL="457200" marR="0" rtl="0" algn="l">
              <a:lnSpc>
                <a:spcPct val="115000"/>
              </a:lnSpc>
              <a:spcBef>
                <a:spcPts val="400"/>
              </a:spcBef>
              <a:spcAft>
                <a:spcPts val="40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Importar y adaptar un template en lugar de construir desde cero.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nvSpPr>
        <p:spPr>
          <a:xfrm>
            <a:off x="900000" y="150000"/>
            <a:ext cx="75000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0"/>
              <a:buFont typeface="Arial"/>
              <a:buNone/>
            </a:pPr>
            <a:r>
              <a:rPr b="0" i="0" lang="es" sz="8000" u="none" cap="none" strike="noStrike">
                <a:solidFill>
                  <a:srgbClr val="FF632B"/>
                </a:solidFill>
                <a:latin typeface="Plus Jakarta Sans ExtraBold"/>
                <a:ea typeface="Plus Jakarta Sans ExtraBold"/>
                <a:cs typeface="Plus Jakarta Sans ExtraBold"/>
                <a:sym typeface="Plus Jakarta Sans ExtraBold"/>
              </a:rPr>
              <a:t>Agenda</a:t>
            </a:r>
            <a:endParaRPr b="0" i="0" sz="8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6" name="Google Shape;106;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300"/>
              <a:buFont typeface="Plus Jakarta Sans Light"/>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Dónde quedamos: del prompt al flujo</a:t>
            </a:r>
            <a:endParaRPr/>
          </a:p>
          <a:p>
            <a:pPr indent="-304800" lvl="0" marL="457200" marR="0" rtl="0" algn="l">
              <a:lnSpc>
                <a:spcPct val="115000"/>
              </a:lnSpc>
              <a:spcBef>
                <a:spcPts val="400"/>
              </a:spcBef>
              <a:spcAft>
                <a:spcPts val="0"/>
              </a:spcAft>
              <a:buClr>
                <a:srgbClr val="171717"/>
              </a:buClr>
              <a:buSzPts val="1300"/>
              <a:buFont typeface="Plus Jakarta Sans Light"/>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Qué es una automatización: lineales y cognitivas</a:t>
            </a:r>
            <a:endParaRPr/>
          </a:p>
          <a:p>
            <a:pPr indent="-304800" lvl="0" marL="457200" marR="0" rtl="0" algn="l">
              <a:lnSpc>
                <a:spcPct val="115000"/>
              </a:lnSpc>
              <a:spcBef>
                <a:spcPts val="400"/>
              </a:spcBef>
              <a:spcAft>
                <a:spcPts val="0"/>
              </a:spcAft>
              <a:buClr>
                <a:srgbClr val="171717"/>
              </a:buClr>
              <a:buSzPts val="1300"/>
              <a:buFont typeface="Plus Jakarta Sans Light"/>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ROI: cuándo vale la pena automatizar</a:t>
            </a:r>
            <a:endParaRPr/>
          </a:p>
          <a:p>
            <a:pPr indent="-304800" lvl="0" marL="457200" marR="0" rtl="0" algn="l">
              <a:lnSpc>
                <a:spcPct val="115000"/>
              </a:lnSpc>
              <a:spcBef>
                <a:spcPts val="400"/>
              </a:spcBef>
              <a:spcAft>
                <a:spcPts val="0"/>
              </a:spcAft>
              <a:buClr>
                <a:srgbClr val="171717"/>
              </a:buClr>
              <a:buSzPts val="1300"/>
              <a:buFont typeface="Plus Jakarta Sans Light"/>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n8n: instancias, JSON, workflows y templates</a:t>
            </a:r>
            <a:endParaRPr/>
          </a:p>
          <a:p>
            <a:pPr indent="-304800" lvl="0" marL="457200" marR="0" rtl="0" algn="l">
              <a:lnSpc>
                <a:spcPct val="115000"/>
              </a:lnSpc>
              <a:spcBef>
                <a:spcPts val="400"/>
              </a:spcBef>
              <a:spcAft>
                <a:spcPts val="0"/>
              </a:spcAft>
              <a:buClr>
                <a:srgbClr val="171717"/>
              </a:buClr>
              <a:buSzPts val="1300"/>
              <a:buFont typeface="Plus Jakarta Sans Light"/>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Break</a:t>
            </a:r>
            <a:endParaRPr/>
          </a:p>
          <a:p>
            <a:pPr indent="-304800" lvl="0" marL="457200" marR="0" rtl="0" algn="l">
              <a:lnSpc>
                <a:spcPct val="115000"/>
              </a:lnSpc>
              <a:spcBef>
                <a:spcPts val="400"/>
              </a:spcBef>
              <a:spcAft>
                <a:spcPts val="0"/>
              </a:spcAft>
              <a:buClr>
                <a:srgbClr val="171717"/>
              </a:buClr>
              <a:buSzPts val="1300"/>
              <a:buFont typeface="Plus Jakarta Sans Light"/>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Práctica en vivo: de la idea al prompt</a:t>
            </a:r>
            <a:endParaRPr/>
          </a:p>
          <a:p>
            <a:pPr indent="-304800" lvl="0" marL="457200" marR="0" rtl="0" algn="l">
              <a:lnSpc>
                <a:spcPct val="115000"/>
              </a:lnSpc>
              <a:spcBef>
                <a:spcPts val="400"/>
              </a:spcBef>
              <a:spcAft>
                <a:spcPts val="400"/>
              </a:spcAft>
              <a:buClr>
                <a:srgbClr val="171717"/>
              </a:buClr>
              <a:buSzPts val="1300"/>
              <a:buFont typeface="Plus Jakarta Sans Light"/>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Pre-entrega 2 y cierre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nvSpPr>
        <p:spPr>
          <a:xfrm>
            <a:off x="652525" y="1336525"/>
            <a:ext cx="3873300" cy="171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12" name="Google Shape;112;p5"/>
          <p:cNvSpPr/>
          <p:nvPr/>
        </p:nvSpPr>
        <p:spPr>
          <a:xfrm>
            <a:off x="3601525" y="3168750"/>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En el módulo 1: </a:t>
            </a:r>
            <a:r>
              <a:rPr b="0" i="0" lang="es" sz="1200" u="none" cap="none" strike="noStrike">
                <a:solidFill>
                  <a:srgbClr val="171717"/>
                </a:solidFill>
                <a:latin typeface="Plus Jakarta Sans Light"/>
                <a:ea typeface="Plus Jakarta Sans Light"/>
                <a:cs typeface="Plus Jakarta Sans Light"/>
                <a:sym typeface="Plus Jakarta Sans Light"/>
              </a:rPr>
              <a:t>armaste una plantilla de prompt que toma un texto desordenado y devuelve JSON válido.</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El problema que quedó: </a:t>
            </a:r>
            <a:r>
              <a:rPr b="0" i="0" lang="es" sz="1200" u="none" cap="none" strike="noStrike">
                <a:solidFill>
                  <a:srgbClr val="171717"/>
                </a:solidFill>
                <a:latin typeface="Plus Jakarta Sans Light"/>
                <a:ea typeface="Plus Jakarta Sans Light"/>
                <a:cs typeface="Plus Jakarta Sans Light"/>
                <a:sym typeface="Plus Jakarta Sans Light"/>
              </a:rPr>
              <a:t>vos seguís copiando y pegando el texto a mano cada vez.</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Hoy: </a:t>
            </a:r>
            <a:r>
              <a:rPr b="0" i="0" lang="es" sz="1200" u="none" cap="none" strike="noStrike">
                <a:solidFill>
                  <a:srgbClr val="171717"/>
                </a:solidFill>
                <a:latin typeface="Plus Jakarta Sans Light"/>
                <a:ea typeface="Plus Jakarta Sans Light"/>
                <a:cs typeface="Plus Jakarta Sans Light"/>
                <a:sym typeface="Plus Jakarta Sans Light"/>
              </a:rPr>
              <a:t>conocemos la herramienta que hace ese trabajo sola y aprendemos a decidir qué vale la pena automatizar.</a:t>
            </a:r>
            <a:endParaRPr/>
          </a:p>
          <a:p>
            <a:pPr indent="-285750" lvl="0" marL="285750" marR="0" rtl="0" algn="l">
              <a:lnSpc>
                <a:spcPct val="115000"/>
              </a:lnSpc>
              <a:spcBef>
                <a:spcPts val="400"/>
              </a:spcBef>
              <a:spcAft>
                <a:spcPts val="40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Al final de la clase: </a:t>
            </a:r>
            <a:r>
              <a:rPr b="0" i="0" lang="es" sz="1200" u="none" cap="none" strike="noStrike">
                <a:solidFill>
                  <a:srgbClr val="171717"/>
                </a:solidFill>
                <a:latin typeface="Plus Jakarta Sans Light"/>
                <a:ea typeface="Plus Jakarta Sans Light"/>
                <a:cs typeface="Plus Jakarta Sans Light"/>
                <a:sym typeface="Plus Jakarta Sans Light"/>
              </a:rPr>
              <a:t>vas a tener diseñada tu primera automatización con un paso de IA adentro.</a:t>
            </a:r>
            <a:endParaRPr/>
          </a:p>
        </p:txBody>
      </p:sp>
      <p:sp>
        <p:nvSpPr>
          <p:cNvPr id="118" name="Google Shape;118;p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¿Dónde quedamos?</a:t>
            </a:r>
            <a:endParaRPr/>
          </a:p>
        </p:txBody>
      </p:sp>
      <p:sp>
        <p:nvSpPr>
          <p:cNvPr id="119" name="Google Shape;119;p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Del prompt suelto al flujo que corre solo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25" name="Google Shape;125;p7"/>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8F2E8"/>
                </a:solidFill>
                <a:latin typeface="Plus Jakarta Sans ExtraBold"/>
                <a:ea typeface="Plus Jakarta Sans ExtraBold"/>
                <a:cs typeface="Plus Jakarta Sans ExtraBold"/>
                <a:sym typeface="Plus Jakarta Sans ExtraBold"/>
              </a:rPr>
              <a:t>Qué es una automatización</a:t>
            </a:r>
            <a:endParaRPr b="0" i="0" sz="3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La definición: </a:t>
            </a:r>
            <a:r>
              <a:rPr b="0" i="0" lang="es" sz="1150" u="none" cap="none" strike="noStrike">
                <a:solidFill>
                  <a:srgbClr val="171717"/>
                </a:solidFill>
                <a:latin typeface="Plus Jakarta Sans Light"/>
                <a:ea typeface="Plus Jakarta Sans Light"/>
                <a:cs typeface="Plus Jakarta Sans Light"/>
                <a:sym typeface="Plus Jakarta Sans Light"/>
              </a:rPr>
              <a:t>usar tecnología para realizar tareas repetitivas sin intervención humana, moviendo datos de un lugar a otro según reglas predefinidas.</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El dilema que resuelve: </a:t>
            </a:r>
            <a:r>
              <a:rPr b="0" i="0" lang="es" sz="1150" u="none" cap="none" strike="noStrike">
                <a:solidFill>
                  <a:srgbClr val="171717"/>
                </a:solidFill>
                <a:latin typeface="Plus Jakarta Sans Light"/>
                <a:ea typeface="Plus Jakarta Sans Light"/>
                <a:cs typeface="Plus Jakarta Sans Light"/>
                <a:sym typeface="Plus Jakarta Sans Light"/>
              </a:rPr>
              <a:t>en un negocio tradicional, si los pedidos se duplican, la carga administrativa se duplica y hay que contratar más gente.</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Cómo rompe esa linealidad: </a:t>
            </a:r>
            <a:r>
              <a:rPr b="0" i="0" lang="es" sz="1150" u="none" cap="none" strike="noStrike">
                <a:solidFill>
                  <a:srgbClr val="171717"/>
                </a:solidFill>
                <a:latin typeface="Plus Jakarta Sans Light"/>
                <a:ea typeface="Plus Jakarta Sans Light"/>
                <a:cs typeface="Plus Jakarta Sans Light"/>
                <a:sym typeface="Plus Jakarta Sans Light"/>
              </a:rPr>
              <a:t>un servidor procesando 100 webhooks por minuto cuesta y tarda lo mismo que procesando 10.000.</a:t>
            </a:r>
            <a:endParaRPr/>
          </a:p>
          <a:p>
            <a:pPr indent="-285750" lvl="0" marL="285750" marR="0" rtl="0" algn="l">
              <a:lnSpc>
                <a:spcPct val="115000"/>
              </a:lnSpc>
              <a:spcBef>
                <a:spcPts val="400"/>
              </a:spcBef>
              <a:spcAft>
                <a:spcPts val="40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El resultado: </a:t>
            </a:r>
            <a:r>
              <a:rPr b="0" i="0" lang="es" sz="1150" u="none" cap="none" strike="noStrike">
                <a:solidFill>
                  <a:srgbClr val="171717"/>
                </a:solidFill>
                <a:latin typeface="Plus Jakarta Sans Light"/>
                <a:ea typeface="Plus Jakarta Sans Light"/>
                <a:cs typeface="Plus Jakarta Sans Light"/>
                <a:sym typeface="Plus Jakarta Sans Light"/>
              </a:rPr>
              <a:t>el trabajo operativo se vuelve un costo fijo. Escalás las ventas sin colapsar la logística.</a:t>
            </a:r>
            <a:endParaRPr/>
          </a:p>
        </p:txBody>
      </p:sp>
      <p:sp>
        <p:nvSpPr>
          <p:cNvPr id="131" name="Google Shape;131;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3200"/>
              <a:buFont typeface="Arial"/>
              <a:buNone/>
            </a:pPr>
            <a:r>
              <a:rPr b="1" i="0" lang="es" sz="3200" u="none" cap="none" strike="noStrike">
                <a:solidFill>
                  <a:srgbClr val="FF632B"/>
                </a:solidFill>
                <a:latin typeface="Plus Jakarta Sans ExtraBold"/>
                <a:ea typeface="Plus Jakarta Sans ExtraBold"/>
                <a:cs typeface="Plus Jakarta Sans ExtraBold"/>
                <a:sym typeface="Plus Jakarta Sans ExtraBold"/>
              </a:rPr>
              <a:t>¿Qué es automatizar?</a:t>
            </a:r>
            <a:endParaRPr/>
          </a:p>
        </p:txBody>
      </p:sp>
      <p:sp>
        <p:nvSpPr>
          <p:cNvPr id="132" name="Google Shape;132;p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Un asistente digital que no duerme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La metáfora: </a:t>
            </a:r>
            <a:r>
              <a:rPr b="0" i="0" lang="es" sz="1150" u="none" cap="none" strike="noStrike">
                <a:solidFill>
                  <a:srgbClr val="171717"/>
                </a:solidFill>
                <a:latin typeface="Plus Jakarta Sans Light"/>
                <a:ea typeface="Plus Jakarta Sans Light"/>
                <a:cs typeface="Plus Jakarta Sans Light"/>
                <a:sym typeface="Plus Jakarta Sans Light"/>
              </a:rPr>
              <a:t>en una orquesta cada músico es excelente por su cuenta. Si cada uno toca una partitura distinta, el resultado es ruido.</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El director: </a:t>
            </a:r>
            <a:r>
              <a:rPr b="0" i="0" lang="es" sz="1150" u="none" cap="none" strike="noStrike">
                <a:solidFill>
                  <a:srgbClr val="171717"/>
                </a:solidFill>
                <a:latin typeface="Plus Jakarta Sans Light"/>
                <a:ea typeface="Plus Jakarta Sans Light"/>
                <a:cs typeface="Plus Jakarta Sans Light"/>
                <a:sym typeface="Plus Jakarta Sans Light"/>
              </a:rPr>
              <a:t>no toca ningún instrumento. Da las entradas, marca los tiempos y hace que todos suenen como una sola canción.</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En tecnología: </a:t>
            </a:r>
            <a:r>
              <a:rPr b="0" i="0" lang="es" sz="1150" u="none" cap="none" strike="noStrike">
                <a:solidFill>
                  <a:srgbClr val="171717"/>
                </a:solidFill>
                <a:latin typeface="Plus Jakarta Sans Light"/>
                <a:ea typeface="Plus Jakarta Sans Light"/>
                <a:cs typeface="Plus Jakarta Sans Light"/>
                <a:sym typeface="Plus Jakarta Sans Light"/>
              </a:rPr>
              <a:t>los músicos son WhatsApp, Google Sheets, Gmail, un procesador de pagos.</a:t>
            </a:r>
            <a:endParaRPr/>
          </a:p>
          <a:p>
            <a:pPr indent="-285750" lvl="0" marL="285750" marR="0" rtl="0" algn="l">
              <a:lnSpc>
                <a:spcPct val="115000"/>
              </a:lnSpc>
              <a:spcBef>
                <a:spcPts val="400"/>
              </a:spcBef>
              <a:spcAft>
                <a:spcPts val="40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Orquestar es: </a:t>
            </a:r>
            <a:r>
              <a:rPr b="0" i="0" lang="es" sz="1150" u="none" cap="none" strike="noStrike">
                <a:solidFill>
                  <a:srgbClr val="171717"/>
                </a:solidFill>
                <a:latin typeface="Plus Jakarta Sans Light"/>
                <a:ea typeface="Plus Jakarta Sans Light"/>
                <a:cs typeface="Plus Jakarta Sans Light"/>
                <a:sym typeface="Plus Jakarta Sans Light"/>
              </a:rPr>
              <a:t>coordinar esas herramientas independientes para que funcionen como un solo mecanismo fluido.</a:t>
            </a:r>
            <a:endParaRPr/>
          </a:p>
        </p:txBody>
      </p:sp>
      <p:sp>
        <p:nvSpPr>
          <p:cNvPr id="138" name="Google Shape;138;p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Orquestación</a:t>
            </a:r>
            <a:endParaRPr/>
          </a:p>
        </p:txBody>
      </p:sp>
      <p:sp>
        <p:nvSpPr>
          <p:cNvPr id="139" name="Google Shape;139;p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Automatizar no es sólo ahorrar tiempo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Lineales: </a:t>
            </a:r>
            <a:r>
              <a:rPr b="0" i="0" lang="es" sz="1150" u="none" cap="none" strike="noStrike">
                <a:solidFill>
                  <a:srgbClr val="171717"/>
                </a:solidFill>
                <a:latin typeface="Plus Jakarta Sans Light"/>
                <a:ea typeface="Plus Jakarta Sans Light"/>
                <a:cs typeface="Plus Jakarta Sans Light"/>
                <a:sym typeface="Plus Jakarta Sans Light"/>
              </a:rPr>
              <a:t>cada paso se ejecuta en un orden fijo y predecible. “Si pasa A, hacé B y después C”, sin ambigüedad ni interpretación.</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Cognitivas: </a:t>
            </a:r>
            <a:r>
              <a:rPr b="0" i="0" lang="es" sz="1150" u="none" cap="none" strike="noStrike">
                <a:solidFill>
                  <a:srgbClr val="171717"/>
                </a:solidFill>
                <a:latin typeface="Plus Jakarta Sans Light"/>
                <a:ea typeface="Plus Jakarta Sans Light"/>
                <a:cs typeface="Plus Jakarta Sans Light"/>
                <a:sym typeface="Plus Jakarta Sans Light"/>
              </a:rPr>
              <a:t>en uno o varios pasos se delega la interpretación, el razonamiento o la generación a un modelo de IA.</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La diferencia clave: </a:t>
            </a:r>
            <a:r>
              <a:rPr b="0" i="0" lang="es" sz="1150" u="none" cap="none" strike="noStrike">
                <a:solidFill>
                  <a:srgbClr val="171717"/>
                </a:solidFill>
                <a:latin typeface="Plus Jakarta Sans Light"/>
                <a:ea typeface="Plus Jakarta Sans Light"/>
                <a:cs typeface="Plus Jakarta Sans Light"/>
                <a:sym typeface="Plus Jakarta Sans Light"/>
              </a:rPr>
              <a:t>el sistema deja de seguir sólo instrucciones deterministas. En algún punto entiende el contenido y decide con cierto criterio.</a:t>
            </a:r>
            <a:endParaRPr/>
          </a:p>
          <a:p>
            <a:pPr indent="-285750" lvl="0" marL="285750" marR="0" rtl="0" algn="l">
              <a:lnSpc>
                <a:spcPct val="115000"/>
              </a:lnSpc>
              <a:spcBef>
                <a:spcPts val="400"/>
              </a:spcBef>
              <a:spcAft>
                <a:spcPts val="40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Hacia dónde vamos: </a:t>
            </a:r>
            <a:r>
              <a:rPr b="0" i="0" lang="es" sz="1150" u="none" cap="none" strike="noStrike">
                <a:solidFill>
                  <a:srgbClr val="171717"/>
                </a:solidFill>
                <a:latin typeface="Plus Jakarta Sans Light"/>
                <a:ea typeface="Plus Jakarta Sans Light"/>
                <a:cs typeface="Plus Jakarta Sans Light"/>
                <a:sym typeface="Plus Jakarta Sans Light"/>
              </a:rPr>
              <a:t>el proyecto final del curso es un agente autónomo. Cognitivo de punta a punta.</a:t>
            </a:r>
            <a:endParaRPr/>
          </a:p>
        </p:txBody>
      </p:sp>
      <p:sp>
        <p:nvSpPr>
          <p:cNvPr id="145" name="Google Shape;145;p1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3200"/>
              <a:buFont typeface="Arial"/>
              <a:buNone/>
            </a:pPr>
            <a:r>
              <a:rPr b="1" i="0" lang="es" sz="3200" u="none" cap="none" strike="noStrike">
                <a:solidFill>
                  <a:srgbClr val="FF632B"/>
                </a:solidFill>
                <a:latin typeface="Plus Jakarta Sans ExtraBold"/>
                <a:ea typeface="Plus Jakarta Sans ExtraBold"/>
                <a:cs typeface="Plus Jakarta Sans ExtraBold"/>
                <a:sym typeface="Plus Jakarta Sans ExtraBold"/>
              </a:rPr>
              <a:t>Lineales y cognitivas</a:t>
            </a:r>
            <a:endParaRPr/>
          </a:p>
        </p:txBody>
      </p:sp>
      <p:sp>
        <p:nvSpPr>
          <p:cNvPr id="146" name="Google Shape;146;p1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Dos formas de armar un flujo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1"/>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53" name="Google Shape;153;p11"/>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54" name="Google Shape;154;p11"/>
          <p:cNvSpPr txBox="1"/>
          <p:nvPr/>
        </p:nvSpPr>
        <p:spPr>
          <a:xfrm>
            <a:off x="6363575" y="2481425"/>
            <a:ext cx="2457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0" i="0" lang="es" sz="1100" u="none" cap="none" strike="noStrike">
                <a:solidFill>
                  <a:srgbClr val="171717"/>
                </a:solidFill>
                <a:latin typeface="Plus Jakarta Sans Light"/>
                <a:ea typeface="Plus Jakarta Sans Light"/>
                <a:cs typeface="Plus Jakarta Sans Light"/>
                <a:sym typeface="Plus Jakarta Sans Light"/>
              </a:rPr>
              <a:t>Pensá en una tarea que hacés todas las semanas y te aburre. ¿Qué pasos son puro “si pasa A, hacé B”? ¿Y en cuál necesitás leer, interpretar o decidir? Ese segundo grupo es el que pide IA.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60" name="Google Shape;160;p12"/>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8F2E8"/>
                </a:solidFill>
                <a:latin typeface="Plus Jakarta Sans ExtraBold"/>
                <a:ea typeface="Plus Jakarta Sans ExtraBold"/>
                <a:cs typeface="Plus Jakarta Sans ExtraBold"/>
                <a:sym typeface="Plus Jakarta Sans ExtraBold"/>
              </a:rPr>
              <a:t>ROI: cuándo vale la pena</a:t>
            </a:r>
            <a:endParaRPr b="0" i="0" sz="3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La definición: </a:t>
            </a:r>
            <a:r>
              <a:rPr b="0" i="0" lang="es" sz="1150" u="none" cap="none" strike="noStrike">
                <a:solidFill>
                  <a:srgbClr val="171717"/>
                </a:solidFill>
                <a:latin typeface="Plus Jakarta Sans Light"/>
                <a:ea typeface="Plus Jakarta Sans Light"/>
                <a:cs typeface="Plus Jakarta Sans Light"/>
                <a:sym typeface="Plus Jakarta Sans Light"/>
              </a:rPr>
              <a:t>evalúa la rentabilidad de una inversión en relación con su costo. En automatización no se mide sólo en plata, también en tiempo recuperado.</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La fórmula: </a:t>
            </a:r>
            <a:r>
              <a:rPr b="0" i="0" lang="es" sz="1150" u="none" cap="none" strike="noStrike">
                <a:solidFill>
                  <a:srgbClr val="171717"/>
                </a:solidFill>
                <a:latin typeface="Plus Jakarta Sans Light"/>
                <a:ea typeface="Plus Jakarta Sans Light"/>
                <a:cs typeface="Plus Jakarta Sans Light"/>
                <a:sym typeface="Plus Jakarta Sans Light"/>
              </a:rPr>
              <a:t>ROI = (Beneficio neto / Costo de la inversión) × 100.</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Costo de inversión: </a:t>
            </a:r>
            <a:r>
              <a:rPr b="0" i="0" lang="es" sz="1150" u="none" cap="none" strike="noStrike">
                <a:solidFill>
                  <a:srgbClr val="171717"/>
                </a:solidFill>
                <a:latin typeface="Plus Jakarta Sans Light"/>
                <a:ea typeface="Plus Jakarta Sans Light"/>
                <a:cs typeface="Plus Jakarta Sans Light"/>
                <a:sym typeface="Plus Jakarta Sans Light"/>
              </a:rPr>
              <a:t>horas de desarrollo del flujo, licencias de software, hosting, mantenimiento.</a:t>
            </a:r>
            <a:endParaRPr/>
          </a:p>
          <a:p>
            <a:pPr indent="-285750" lvl="0" marL="285750" marR="0" rtl="0" algn="l">
              <a:lnSpc>
                <a:spcPct val="115000"/>
              </a:lnSpc>
              <a:spcBef>
                <a:spcPts val="400"/>
              </a:spcBef>
              <a:spcAft>
                <a:spcPts val="40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Beneficio neto: </a:t>
            </a:r>
            <a:r>
              <a:rPr b="0" i="0" lang="es" sz="1150" u="none" cap="none" strike="noStrike">
                <a:solidFill>
                  <a:srgbClr val="171717"/>
                </a:solidFill>
                <a:latin typeface="Plus Jakarta Sans Light"/>
                <a:ea typeface="Plus Jakarta Sans Light"/>
                <a:cs typeface="Plus Jakarta Sans Light"/>
                <a:sym typeface="Plus Jakarta Sans Light"/>
              </a:rPr>
              <a:t>ahorro de horas manuales, más ventas por responder rápido, menos costos por errores evitados.</a:t>
            </a:r>
            <a:endParaRPr/>
          </a:p>
        </p:txBody>
      </p:sp>
      <p:sp>
        <p:nvSpPr>
          <p:cNvPr id="166" name="Google Shape;166;p1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¿Qué es el ROI?</a:t>
            </a:r>
            <a:endParaRPr/>
          </a:p>
        </p:txBody>
      </p:sp>
      <p:sp>
        <p:nvSpPr>
          <p:cNvPr id="167" name="Google Shape;167;p1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La métrica que decide qué automatizás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Umbrales/ </a:t>
            </a:r>
            <a:r>
              <a:rPr b="0" i="0" lang="es" sz="2400" u="none" cap="none" strike="noStrike">
                <a:solidFill>
                  <a:srgbClr val="260700"/>
                </a:solidFill>
                <a:latin typeface="Plus Jakarta Sans"/>
                <a:ea typeface="Plus Jakarta Sans"/>
                <a:cs typeface="Plus Jakarta Sans"/>
                <a:sym typeface="Plus Jakarta Sans"/>
              </a:rPr>
              <a:t>cuándo es rentable</a:t>
            </a:r>
            <a:endParaRPr b="0" i="0" sz="2400" u="none" cap="none" strike="noStrike">
              <a:solidFill>
                <a:srgbClr val="260700"/>
              </a:solidFill>
              <a:latin typeface="Plus Jakarta Sans"/>
              <a:ea typeface="Plus Jakarta Sans"/>
              <a:cs typeface="Plus Jakarta Sans"/>
              <a:sym typeface="Plus Jakarta Sans"/>
            </a:endParaRPr>
          </a:p>
        </p:txBody>
      </p:sp>
      <p:sp>
        <p:nvSpPr>
          <p:cNvPr id="173" name="Google Shape;173;p14"/>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es" sz="1800" u="none" cap="none" strike="noStrike">
                <a:solidFill>
                  <a:srgbClr val="FF632B"/>
                </a:solidFill>
                <a:latin typeface="Plus Jakarta Sans ExtraBold"/>
                <a:ea typeface="Plus Jakarta Sans ExtraBold"/>
                <a:cs typeface="Plus Jakarta Sans ExtraBold"/>
                <a:sym typeface="Plus Jakarta Sans ExtraBold"/>
              </a:rPr>
              <a:t>Break-even</a:t>
            </a:r>
            <a:endParaRPr/>
          </a:p>
          <a:p>
            <a:pPr indent="0" lvl="0" marL="0" marR="0" rtl="0" algn="ctr">
              <a:lnSpc>
                <a:spcPct val="115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Light"/>
                <a:ea typeface="Plus Jakarta Sans Light"/>
                <a:cs typeface="Plus Jakarta Sans Light"/>
                <a:sym typeface="Plus Jakarta Sans Light"/>
              </a:rPr>
              <a:t>El punto de equilibrio: el momento exacto en que el ahorro acumulado iguala el costo de implementación.</a:t>
            </a:r>
            <a:endParaRPr/>
          </a:p>
        </p:txBody>
      </p:sp>
      <p:sp>
        <p:nvSpPr>
          <p:cNvPr id="174" name="Google Shape;174;p14"/>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1" i="0" lang="es" sz="1800" u="none" cap="none" strike="noStrike">
                <a:solidFill>
                  <a:srgbClr val="FF632B"/>
                </a:solidFill>
                <a:latin typeface="Plus Jakarta Sans ExtraBold"/>
                <a:ea typeface="Plus Jakarta Sans ExtraBold"/>
                <a:cs typeface="Plus Jakarta Sans ExtraBold"/>
                <a:sym typeface="Plus Jakarta Sans ExtraBold"/>
              </a:rPr>
              <a:t>Regla 80/20</a:t>
            </a:r>
            <a:endParaRPr/>
          </a:p>
          <a:p>
            <a:pPr indent="0" lvl="0" marL="0" marR="0" rtl="0" algn="ctr">
              <a:lnSpc>
                <a:spcPct val="115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Light"/>
                <a:ea typeface="Plus Jakarta Sans Light"/>
                <a:cs typeface="Plus Jakarta Sans Light"/>
                <a:sym typeface="Plus Jakarta Sans Light"/>
              </a:rPr>
              <a:t>El 80% de los resultados sale del 20% de los flujos. Automatizá alta frecuencia y bajo juicio humano.</a:t>
            </a:r>
            <a:endParaRPr/>
          </a:p>
        </p:txBody>
      </p:sp>
      <p:sp>
        <p:nvSpPr>
          <p:cNvPr id="175" name="Google Shape;175;p14"/>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300"/>
              <a:buFont typeface="Arial"/>
              <a:buNone/>
            </a:pPr>
            <a:r>
              <a:rPr b="1" i="0" lang="es" sz="1300" u="none" cap="none" strike="noStrike">
                <a:solidFill>
                  <a:srgbClr val="FF632B"/>
                </a:solidFill>
                <a:latin typeface="Plus Jakarta Sans ExtraBold"/>
                <a:ea typeface="Plus Jakarta Sans ExtraBold"/>
                <a:cs typeface="Plus Jakarta Sans ExtraBold"/>
                <a:sym typeface="Plus Jakarta Sans ExtraBold"/>
              </a:rPr>
              <a:t>Costo de oportunidad: </a:t>
            </a:r>
            <a:r>
              <a:rPr b="0" i="0" lang="es" sz="1300" u="none" cap="none" strike="noStrike">
                <a:solidFill>
                  <a:srgbClr val="171717"/>
                </a:solidFill>
                <a:latin typeface="Plus Jakarta Sans Light"/>
                <a:ea typeface="Plus Jakarta Sans Light"/>
                <a:cs typeface="Plus Jakarta Sans Light"/>
                <a:sym typeface="Plus Jakarta Sans Light"/>
              </a:rPr>
              <a:t>¿qué estaría haciendo esa persona si no estuviera copiando datos en Excel?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El caso: </a:t>
            </a:r>
            <a:r>
              <a:rPr b="0" i="0" lang="es" sz="1200" u="none" cap="none" strike="noStrike">
                <a:solidFill>
                  <a:srgbClr val="171717"/>
                </a:solidFill>
                <a:latin typeface="Plus Jakarta Sans Light"/>
                <a:ea typeface="Plus Jakarta Sans Light"/>
                <a:cs typeface="Plus Jakarta Sans Light"/>
                <a:sym typeface="Plus Jakarta Sans Light"/>
              </a:rPr>
              <a:t>un workflow que apenas empata en términos monetarios, cero ganancia directa.</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Lo que sí genera: </a:t>
            </a:r>
            <a:r>
              <a:rPr b="0" i="0" lang="es" sz="1200" u="none" cap="none" strike="noStrike">
                <a:solidFill>
                  <a:srgbClr val="171717"/>
                </a:solidFill>
                <a:latin typeface="Plus Jakarta Sans Light"/>
                <a:ea typeface="Plus Jakarta Sans Light"/>
                <a:cs typeface="Plus Jakarta Sans Light"/>
                <a:sym typeface="Plus Jakarta Sans Light"/>
              </a:rPr>
              <a:t>libera al dueño del negocio para dedicarse a cerrar ventas o a mejorar la calidad del producto.</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Por qué conviene igual: </a:t>
            </a:r>
            <a:r>
              <a:rPr b="0" i="0" lang="es" sz="1200" u="none" cap="none" strike="noStrike">
                <a:solidFill>
                  <a:srgbClr val="171717"/>
                </a:solidFill>
                <a:latin typeface="Plus Jakarta Sans Light"/>
                <a:ea typeface="Plus Jakarta Sans Light"/>
                <a:cs typeface="Plus Jakarta Sans Light"/>
                <a:sym typeface="Plus Jakarta Sans Light"/>
              </a:rPr>
              <a:t>la escalabilidad ganada hace que la inversión sea altamente rentable a largo plazo.</a:t>
            </a:r>
            <a:endParaRPr/>
          </a:p>
          <a:p>
            <a:pPr indent="-285750" lvl="0" marL="285750" marR="0" rtl="0" algn="l">
              <a:lnSpc>
                <a:spcPct val="115000"/>
              </a:lnSpc>
              <a:spcBef>
                <a:spcPts val="400"/>
              </a:spcBef>
              <a:spcAft>
                <a:spcPts val="40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El otro lado: </a:t>
            </a:r>
            <a:r>
              <a:rPr b="0" i="0" lang="es" sz="1200" u="none" cap="none" strike="noStrike">
                <a:solidFill>
                  <a:srgbClr val="171717"/>
                </a:solidFill>
                <a:latin typeface="Plus Jakarta Sans Light"/>
                <a:ea typeface="Plus Jakarta Sans Light"/>
                <a:cs typeface="Plus Jakarta Sans Light"/>
                <a:sym typeface="Plus Jakarta Sans Light"/>
              </a:rPr>
              <a:t>si automatizás algo que se hace una vez al año, el ROI siempre va a ser negativo por el costo de mantenimiento.</a:t>
            </a:r>
            <a:endParaRPr/>
          </a:p>
        </p:txBody>
      </p:sp>
      <p:sp>
        <p:nvSpPr>
          <p:cNvPr id="181" name="Google Shape;181;p1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El ROI oculto</a:t>
            </a:r>
            <a:endParaRPr/>
          </a:p>
        </p:txBody>
      </p:sp>
      <p:sp>
        <p:nvSpPr>
          <p:cNvPr id="182" name="Google Shape;182;p1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Cuando empatar igual conviene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FFFFF"/>
                </a:solidFill>
                <a:latin typeface="Plus Jakarta Sans Light"/>
                <a:ea typeface="Plus Jakarta Sans Light"/>
                <a:cs typeface="Plus Jakarta Sans Light"/>
                <a:sym typeface="Plus Jakarta Sans Light"/>
              </a:rPr>
              <a:t>Es también lo que dejás de ganar por hacer tareas manuales.</a:t>
            </a:r>
            <a:endParaRPr/>
          </a:p>
        </p:txBody>
      </p:sp>
      <p:sp>
        <p:nvSpPr>
          <p:cNvPr id="188" name="Google Shape;188;p16"/>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800"/>
              <a:buFont typeface="Arial"/>
              <a:buNone/>
            </a:pPr>
            <a:r>
              <a:rPr b="0" i="0" lang="es" sz="2800" u="none" cap="none" strike="noStrike">
                <a:solidFill>
                  <a:srgbClr val="FFFFFF"/>
                </a:solidFill>
                <a:latin typeface="Plus Jakarta Sans ExtraBold"/>
                <a:ea typeface="Plus Jakarta Sans ExtraBold"/>
                <a:cs typeface="Plus Jakarta Sans ExtraBold"/>
                <a:sym typeface="Plus Jakarta Sans ExtraBold"/>
              </a:rPr>
              <a:t>El ROI no es sólo lo que ahorrás.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7"/>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95" name="Google Shape;195;p17"/>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96" name="Google Shape;196;p17"/>
          <p:cNvSpPr txBox="1"/>
          <p:nvPr/>
        </p:nvSpPr>
        <p:spPr>
          <a:xfrm>
            <a:off x="6363575" y="2481425"/>
            <a:ext cx="2191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0" i="0" lang="es" sz="1100" u="none" cap="none" strike="noStrike">
                <a:solidFill>
                  <a:srgbClr val="171717"/>
                </a:solidFill>
                <a:latin typeface="Plus Jakarta Sans Light"/>
                <a:ea typeface="Plus Jakarta Sans Light"/>
                <a:cs typeface="Plus Jakarta Sans Light"/>
                <a:sym typeface="Plus Jakarta Sans Light"/>
              </a:rPr>
              <a:t>Buscá la fruta madura: procesos de alta frecuencia y bajo juicio humano. Antes de abrir n8n respondete tres cosas: cuánto tarda hoy, cuántas veces por semana pasa, y qué haría esa persona con ese tiempo.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8"/>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02" name="Google Shape;202;p18"/>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n8n: la herramienta</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Qué hace: </a:t>
            </a:r>
            <a:r>
              <a:rPr b="0" i="0" lang="es" sz="1150" u="none" cap="none" strike="noStrike">
                <a:solidFill>
                  <a:srgbClr val="171717"/>
                </a:solidFill>
                <a:latin typeface="Plus Jakarta Sans Light"/>
                <a:ea typeface="Plus Jakarta Sans Light"/>
                <a:cs typeface="Plus Jakarta Sans Light"/>
                <a:sym typeface="Plus Jakarta Sans Light"/>
              </a:rPr>
              <a:t>conecta aplicaciones y servicios entre sí para automatizar tareas sin necesidad de escribir código.</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No-code: </a:t>
            </a:r>
            <a:r>
              <a:rPr b="0" i="0" lang="es" sz="1150" u="none" cap="none" strike="noStrike">
                <a:solidFill>
                  <a:srgbClr val="171717"/>
                </a:solidFill>
                <a:latin typeface="Plus Jakarta Sans Light"/>
                <a:ea typeface="Plus Jakarta Sans Light"/>
                <a:cs typeface="Plus Jakarta Sans Light"/>
                <a:sym typeface="Plus Jakarta Sans Light"/>
              </a:rPr>
              <a:t>todo se resuelve con configuraciones visuales sobre bloques prearmados. Si el bloque no llega a lo que necesitás, quedás trabado.</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Low-code: </a:t>
            </a:r>
            <a:r>
              <a:rPr b="0" i="0" lang="es" sz="1150" u="none" cap="none" strike="noStrike">
                <a:solidFill>
                  <a:srgbClr val="171717"/>
                </a:solidFill>
                <a:latin typeface="Plus Jakarta Sans Light"/>
                <a:ea typeface="Plus Jakarta Sans Light"/>
                <a:cs typeface="Plus Jakarta Sans Light"/>
                <a:sym typeface="Plus Jakarta Sans Light"/>
              </a:rPr>
              <a:t>la misma interfaz visual, pero podés escribir código cuando hace falta. Eso elimina la barrera.</a:t>
            </a:r>
            <a:endParaRPr/>
          </a:p>
          <a:p>
            <a:pPr indent="-285750" lvl="0" marL="285750" marR="0" rtl="0" algn="l">
              <a:lnSpc>
                <a:spcPct val="115000"/>
              </a:lnSpc>
              <a:spcBef>
                <a:spcPts val="400"/>
              </a:spcBef>
              <a:spcAft>
                <a:spcPts val="40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La idea central: </a:t>
            </a:r>
            <a:r>
              <a:rPr b="0" i="0" lang="es" sz="1150" u="none" cap="none" strike="noStrike">
                <a:solidFill>
                  <a:srgbClr val="171717"/>
                </a:solidFill>
                <a:latin typeface="Plus Jakarta Sans Light"/>
                <a:ea typeface="Plus Jakarta Sans Light"/>
                <a:cs typeface="Plus Jakarta Sans Light"/>
                <a:sym typeface="Plus Jakarta Sans Light"/>
              </a:rPr>
              <a:t>cada nodo es código ya escrito y empaquetado. Vos configurás parámetros, y programás sólo si el caso lo pide.</a:t>
            </a:r>
            <a:endParaRPr/>
          </a:p>
        </p:txBody>
      </p:sp>
      <p:sp>
        <p:nvSpPr>
          <p:cNvPr id="208" name="Google Shape;208;p1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¿Qué es n8n?</a:t>
            </a:r>
            <a:endParaRPr/>
          </a:p>
        </p:txBody>
      </p:sp>
      <p:sp>
        <p:nvSpPr>
          <p:cNvPr id="209" name="Google Shape;209;p1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Low-code, open source y basado en nodos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Qué es una instancia: </a:t>
            </a:r>
            <a:r>
              <a:rPr b="0" i="0" lang="es" sz="1150" u="none" cap="none" strike="noStrike">
                <a:solidFill>
                  <a:srgbClr val="171717"/>
                </a:solidFill>
                <a:latin typeface="Plus Jakarta Sans Light"/>
                <a:ea typeface="Plus Jakarta Sans Light"/>
                <a:cs typeface="Plus Jakarta Sans Light"/>
                <a:sym typeface="Plus Jakarta Sans Light"/>
              </a:rPr>
              <a:t>una copia de n8n en ejecución corriendo en algún lado. Es el despliegue de la herramienta.</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n8n Cloud: </a:t>
            </a:r>
            <a:r>
              <a:rPr b="0" i="0" lang="es" sz="1150" u="none" cap="none" strike="noStrike">
                <a:solidFill>
                  <a:srgbClr val="171717"/>
                </a:solidFill>
                <a:latin typeface="Plus Jakarta Sans Light"/>
                <a:ea typeface="Plus Jakarta Sans Light"/>
                <a:cs typeface="Plus Jakarta Sans Light"/>
                <a:sym typeface="Plus Jakarta Sans Light"/>
              </a:rPr>
              <a:t>la versión hospedada y gestionada por el equipo de n8n. Es SaaS: entrás desde el navegador y no administrás infraestructura.</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Self-hosted: </a:t>
            </a:r>
            <a:r>
              <a:rPr b="0" i="0" lang="es" sz="1150" u="none" cap="none" strike="noStrike">
                <a:solidFill>
                  <a:srgbClr val="171717"/>
                </a:solidFill>
                <a:latin typeface="Plus Jakarta Sans Light"/>
                <a:ea typeface="Plus Jakarta Sans Light"/>
                <a:cs typeface="Plus Jakarta Sans Light"/>
                <a:sym typeface="Plus Jakarta Sans Light"/>
              </a:rPr>
              <a:t>la infraestructura es tuya, y la responsabilidad también. Pide saber de redes, bases de datos y Docker.</a:t>
            </a:r>
            <a:endParaRPr/>
          </a:p>
          <a:p>
            <a:pPr indent="-285750" lvl="0" marL="285750" marR="0" rtl="0" algn="l">
              <a:lnSpc>
                <a:spcPct val="115000"/>
              </a:lnSpc>
              <a:spcBef>
                <a:spcPts val="400"/>
              </a:spcBef>
              <a:spcAft>
                <a:spcPts val="40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Cómo se instala: </a:t>
            </a:r>
            <a:r>
              <a:rPr b="0" i="0" lang="es" sz="1150" u="none" cap="none" strike="noStrike">
                <a:solidFill>
                  <a:srgbClr val="171717"/>
                </a:solidFill>
                <a:latin typeface="Plus Jakarta Sans Light"/>
                <a:ea typeface="Plus Jakarta Sans Light"/>
                <a:cs typeface="Plus Jakarta Sans Light"/>
                <a:sym typeface="Plus Jakarta Sans Light"/>
              </a:rPr>
              <a:t>en el caso self-hosted, con Node o con Docker.</a:t>
            </a:r>
            <a:endParaRPr/>
          </a:p>
        </p:txBody>
      </p:sp>
      <p:sp>
        <p:nvSpPr>
          <p:cNvPr id="215" name="Google Shape;215;p2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Tu instancia</a:t>
            </a:r>
            <a:endParaRPr/>
          </a:p>
        </p:txBody>
      </p:sp>
      <p:sp>
        <p:nvSpPr>
          <p:cNvPr id="216" name="Google Shape;216;p2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Dónde corre n8n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1"/>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Qué es: </a:t>
            </a:r>
            <a:r>
              <a:rPr b="0" i="0" lang="es" sz="1200" u="none" cap="none" strike="noStrike">
                <a:solidFill>
                  <a:srgbClr val="171717"/>
                </a:solidFill>
                <a:latin typeface="Plus Jakarta Sans Light"/>
                <a:ea typeface="Plus Jakarta Sans Light"/>
                <a:cs typeface="Plus Jakarta Sans Light"/>
                <a:sym typeface="Plus Jakarta Sans Light"/>
              </a:rPr>
              <a:t>un formato estándar para enviar información entre sistemas.</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Cómo se arma: </a:t>
            </a:r>
            <a:r>
              <a:rPr b="0" i="0" lang="es" sz="1200" u="none" cap="none" strike="noStrike">
                <a:solidFill>
                  <a:srgbClr val="171717"/>
                </a:solidFill>
                <a:latin typeface="Plus Jakarta Sans Light"/>
                <a:ea typeface="Plus Jakarta Sans Light"/>
                <a:cs typeface="Plus Jakarta Sans Light"/>
                <a:sym typeface="Plus Jakarta Sans Light"/>
              </a:rPr>
              <a:t>entre llaves, con pares de “Llave”: “Valor”. La llave dice qué es, el valor dice cuál.</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La analogía: </a:t>
            </a:r>
            <a:r>
              <a:rPr b="0" i="0" lang="es" sz="1200" u="none" cap="none" strike="noStrike">
                <a:solidFill>
                  <a:srgbClr val="171717"/>
                </a:solidFill>
                <a:latin typeface="Plus Jakarta Sans Light"/>
                <a:ea typeface="Plus Jakarta Sans Light"/>
                <a:cs typeface="Plus Jakarta Sans Light"/>
                <a:sym typeface="Plus Jakarta Sans Light"/>
              </a:rPr>
              <a:t>un pedido a domicilio. Para: Fulano. Contenido: pizzas.</a:t>
            </a:r>
            <a:endParaRPr/>
          </a:p>
          <a:p>
            <a:pPr indent="-285750" lvl="0" marL="285750" marR="0" rtl="0" algn="l">
              <a:lnSpc>
                <a:spcPct val="115000"/>
              </a:lnSpc>
              <a:spcBef>
                <a:spcPts val="400"/>
              </a:spcBef>
              <a:spcAft>
                <a:spcPts val="40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Por qué importa acá: </a:t>
            </a:r>
            <a:r>
              <a:rPr b="0" i="0" lang="es" sz="1200" u="none" cap="none" strike="noStrike">
                <a:solidFill>
                  <a:srgbClr val="171717"/>
                </a:solidFill>
                <a:latin typeface="Plus Jakarta Sans Light"/>
                <a:ea typeface="Plus Jakarta Sans Light"/>
                <a:cs typeface="Plus Jakarta Sans Light"/>
                <a:sym typeface="Plus Jakarta Sans Light"/>
              </a:rPr>
              <a:t>cada nodo recibe y envía datos en JSON. Es el medio de comunicación entre nodos.</a:t>
            </a:r>
            <a:endParaRPr/>
          </a:p>
        </p:txBody>
      </p:sp>
      <p:sp>
        <p:nvSpPr>
          <p:cNvPr id="222" name="Google Shape;222;p2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JSON</a:t>
            </a:r>
            <a:endParaRPr/>
          </a:p>
        </p:txBody>
      </p:sp>
      <p:sp>
        <p:nvSpPr>
          <p:cNvPr id="223" name="Google Shape;223;p2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idioma de los datos dentro de n8n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2"/>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Qué es: </a:t>
            </a:r>
            <a:r>
              <a:rPr b="0" i="0" lang="es" sz="1200" u="none" cap="none" strike="noStrike">
                <a:solidFill>
                  <a:srgbClr val="171717"/>
                </a:solidFill>
                <a:latin typeface="Plus Jakarta Sans Light"/>
                <a:ea typeface="Plus Jakarta Sans Light"/>
                <a:cs typeface="Plus Jakarta Sans Light"/>
                <a:sym typeface="Plus Jakarta Sans Light"/>
              </a:rPr>
              <a:t>una secuencia organizada de pasos que se ejecutan automáticamente para cumplir un objetivo.</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Define cuándo: </a:t>
            </a:r>
            <a:r>
              <a:rPr b="0" i="0" lang="es" sz="1200" u="none" cap="none" strike="noStrike">
                <a:solidFill>
                  <a:srgbClr val="171717"/>
                </a:solidFill>
                <a:latin typeface="Plus Jakarta Sans Light"/>
                <a:ea typeface="Plus Jakarta Sans Light"/>
                <a:cs typeface="Plus Jakarta Sans Light"/>
                <a:sym typeface="Plus Jakarta Sans Light"/>
              </a:rPr>
              <a:t>comienza el proceso y qué lo dispara.</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Define qué: </a:t>
            </a:r>
            <a:r>
              <a:rPr b="0" i="0" lang="es" sz="1200" u="none" cap="none" strike="noStrike">
                <a:solidFill>
                  <a:srgbClr val="171717"/>
                </a:solidFill>
                <a:latin typeface="Plus Jakarta Sans Light"/>
                <a:ea typeface="Plus Jakarta Sans Light"/>
                <a:cs typeface="Plus Jakarta Sans Light"/>
                <a:sym typeface="Plus Jakarta Sans Light"/>
              </a:rPr>
              <a:t>acciones hay que realizar, cómo se conectan entre sí y qué decisiones se toman durante la ejecución.</a:t>
            </a:r>
            <a:endParaRPr/>
          </a:p>
          <a:p>
            <a:pPr indent="-285750" lvl="0" marL="285750" marR="0" rtl="0" algn="l">
              <a:lnSpc>
                <a:spcPct val="115000"/>
              </a:lnSpc>
              <a:spcBef>
                <a:spcPts val="400"/>
              </a:spcBef>
              <a:spcAft>
                <a:spcPts val="40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Cómo se guarda: </a:t>
            </a:r>
            <a:r>
              <a:rPr b="0" i="0" lang="es" sz="1200" u="none" cap="none" strike="noStrike">
                <a:solidFill>
                  <a:srgbClr val="171717"/>
                </a:solidFill>
                <a:latin typeface="Plus Jakarta Sans Light"/>
                <a:ea typeface="Plus Jakarta Sans Light"/>
                <a:cs typeface="Plus Jakarta Sans Light"/>
                <a:sym typeface="Plus Jakarta Sans Light"/>
              </a:rPr>
              <a:t>en un archivo JSON estandarizado con la definición completa del flujo. Por eso se puede exportar y compartir.</a:t>
            </a:r>
            <a:endParaRPr/>
          </a:p>
        </p:txBody>
      </p:sp>
      <p:sp>
        <p:nvSpPr>
          <p:cNvPr id="229" name="Google Shape;229;p2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El workflow</a:t>
            </a:r>
            <a:endParaRPr/>
          </a:p>
        </p:txBody>
      </p:sp>
      <p:sp>
        <p:nvSpPr>
          <p:cNvPr id="230" name="Google Shape;230;p2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mapa completo de una automatización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3"/>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Qué es: </a:t>
            </a:r>
            <a:r>
              <a:rPr b="0" i="0" lang="es" sz="1150" u="none" cap="none" strike="noStrike">
                <a:solidFill>
                  <a:srgbClr val="171717"/>
                </a:solidFill>
                <a:latin typeface="Plus Jakarta Sans Light"/>
                <a:ea typeface="Plus Jakarta Sans Light"/>
                <a:cs typeface="Plus Jakarta Sans Light"/>
                <a:sym typeface="Plus Jakarta Sans Light"/>
              </a:rPr>
              <a:t>un workflow completo, con nodos, conexiones y configuración, que alguien armó para un caso de uso concreto.</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Dónde están: </a:t>
            </a:r>
            <a:r>
              <a:rPr b="0" i="0" lang="es" sz="1150" u="none" cap="none" strike="noStrike">
                <a:solidFill>
                  <a:srgbClr val="171717"/>
                </a:solidFill>
                <a:latin typeface="Plus Jakarta Sans Light"/>
                <a:ea typeface="Plus Jakarta Sans Light"/>
                <a:cs typeface="Plus Jakarta Sans Light"/>
                <a:sym typeface="Plus Jakarta Sans Light"/>
              </a:rPr>
              <a:t>en la biblioteca pública de n8n, desde la app o en n8n.io/workflows.</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Cómo se importa: </a:t>
            </a:r>
            <a:r>
              <a:rPr b="0" i="0" lang="es" sz="1150" u="none" cap="none" strike="noStrike">
                <a:solidFill>
                  <a:srgbClr val="171717"/>
                </a:solidFill>
                <a:latin typeface="Plus Jakarta Sans Light"/>
                <a:ea typeface="Plus Jakarta Sans Light"/>
                <a:cs typeface="Plus Jakarta Sans Light"/>
                <a:sym typeface="Plus Jakarta Sans Light"/>
              </a:rPr>
              <a:t>con un clic desde la sección Templates, o cargando un archivo .json con Import from File o Import from URL.</a:t>
            </a:r>
            <a:endParaRPr/>
          </a:p>
          <a:p>
            <a:pPr indent="-285750" lvl="0" marL="285750" marR="0" rtl="0" algn="l">
              <a:lnSpc>
                <a:spcPct val="115000"/>
              </a:lnSpc>
              <a:spcBef>
                <a:spcPts val="400"/>
              </a:spcBef>
              <a:spcAft>
                <a:spcPts val="40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Reutilizar es: </a:t>
            </a:r>
            <a:r>
              <a:rPr b="0" i="0" lang="es" sz="1150" u="none" cap="none" strike="noStrike">
                <a:solidFill>
                  <a:srgbClr val="171717"/>
                </a:solidFill>
                <a:latin typeface="Plus Jakarta Sans Light"/>
                <a:ea typeface="Plus Jakarta Sans Light"/>
                <a:cs typeface="Plus Jakarta Sans Light"/>
                <a:sym typeface="Plus Jakarta Sans Light"/>
              </a:rPr>
              <a:t>conectar tus propias credenciales, ajustar condiciones y campos, y guardarlo como plantilla interna.</a:t>
            </a:r>
            <a:endParaRPr/>
          </a:p>
        </p:txBody>
      </p:sp>
      <p:sp>
        <p:nvSpPr>
          <p:cNvPr id="236" name="Google Shape;236;p2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Templates</a:t>
            </a:r>
            <a:endParaRPr/>
          </a:p>
        </p:txBody>
      </p:sp>
      <p:sp>
        <p:nvSpPr>
          <p:cNvPr id="237" name="Google Shape;237;p2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No reinventes la lógica cada vez</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4"/>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44" name="Google Shape;244;p24"/>
          <p:cNvSpPr txBox="1"/>
          <p:nvPr/>
        </p:nvSpPr>
        <p:spPr>
          <a:xfrm>
            <a:off x="730900" y="2015944"/>
            <a:ext cx="8220900" cy="29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pensar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recordar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45" name="Google Shape;245;p24"/>
          <p:cNvSpPr txBox="1"/>
          <p:nvPr/>
        </p:nvSpPr>
        <p:spPr>
          <a:xfrm>
            <a:off x="6363575" y="2994750"/>
            <a:ext cx="2191200" cy="1756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0" i="0" lang="es" sz="1100" u="none" cap="none" strike="noStrike">
                <a:solidFill>
                  <a:srgbClr val="171717"/>
                </a:solidFill>
                <a:latin typeface="Plus Jakarta Sans Light"/>
                <a:ea typeface="Plus Jakarta Sans Light"/>
                <a:cs typeface="Plus Jakarta Sans Light"/>
                <a:sym typeface="Plus Jakarta Sans Light"/>
              </a:rPr>
              <a:t>Un nodo en rojo no significa que n8n esté roto. El error es información: te está diciendo qué dato falta o qué campo no encontró. Leerlo es parte del trabajo.</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251" name="Google Shape;251;p25"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57" name="Google Shape;257;p2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Práctica en vivo</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7"/>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7"/>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64" name="Google Shape;264;p27"/>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Ejemplo en Vivo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pensar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65" name="Google Shape;265;p27"/>
          <p:cNvSpPr txBox="1"/>
          <p:nvPr/>
        </p:nvSpPr>
        <p:spPr>
          <a:xfrm>
            <a:off x="6363575" y="2481425"/>
            <a:ext cx="2191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000"/>
              <a:buFont typeface="Arial"/>
              <a:buNone/>
            </a:pPr>
            <a:r>
              <a:rPr b="0" i="0" lang="es" sz="1000" u="none" cap="none" strike="noStrike">
                <a:solidFill>
                  <a:srgbClr val="171717"/>
                </a:solidFill>
                <a:latin typeface="Plus Jakarta Sans Light"/>
                <a:ea typeface="Plus Jakarta Sans Light"/>
                <a:cs typeface="Plus Jakarta Sans Light"/>
                <a:sym typeface="Plus Jakarta Sans Light"/>
              </a:rPr>
              <a:t>Desafío de priorización. El profe pone tres casos en pantalla y el grupo vota cuál automatizaría si tuviera sólo dos horas. Después construimos juntos un flujo mínimo en n8n y lo rompemos a propósito para leer el error.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Objetivo: elegir un candidato que valga la pena.</a:t>
            </a:r>
            <a:endParaRPr/>
          </a:p>
          <a:p>
            <a:pPr indent="0" lvl="0" marL="0" marR="0" rtl="0" algn="l">
              <a:lnSpc>
                <a:spcPct val="115000"/>
              </a:lnSpc>
              <a:spcBef>
                <a:spcPts val="35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Durante este paso vamos a:</a:t>
            </a:r>
            <a:endParaRPr/>
          </a:p>
          <a:p>
            <a:pPr indent="-285750" lvl="0" marL="285750" marR="0" rtl="0" algn="l">
              <a:lnSpc>
                <a:spcPct val="115000"/>
              </a:lnSpc>
              <a:spcBef>
                <a:spcPts val="25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Listar tres tareas manuales y repetitivas de tu trabajo, tu estudio o tu vida diaria.</a:t>
            </a:r>
            <a:endParaRPr/>
          </a:p>
          <a:p>
            <a:pPr indent="-285750" lvl="0" marL="285750" marR="0" rtl="0" algn="l">
              <a:lnSpc>
                <a:spcPct val="115000"/>
              </a:lnSpc>
              <a:spcBef>
                <a:spcPts val="20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Descartar las de baja frecuencia: si pasa una vez al año, el ROI va a ser negativo.</a:t>
            </a:r>
            <a:endParaRPr/>
          </a:p>
          <a:p>
            <a:pPr indent="-285750" lvl="0" marL="285750" marR="0" rtl="0" algn="l">
              <a:lnSpc>
                <a:spcPct val="115000"/>
              </a:lnSpc>
              <a:spcBef>
                <a:spcPts val="20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Quedarnos con la de alta frecuencia y bajo juicio humano.</a:t>
            </a:r>
            <a:endParaRPr/>
          </a:p>
          <a:p>
            <a:pPr indent="0" lvl="0" marL="0" marR="0" rtl="0" algn="l">
              <a:lnSpc>
                <a:spcPct val="115000"/>
              </a:lnSpc>
              <a:spcBef>
                <a:spcPts val="20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Resultado esperado: </a:t>
            </a:r>
            <a:r>
              <a:rPr b="0" i="0" lang="es" sz="1200" u="none" cap="none" strike="noStrike">
                <a:solidFill>
                  <a:srgbClr val="171717"/>
                </a:solidFill>
                <a:latin typeface="Plus Jakarta Sans Light"/>
                <a:ea typeface="Plus Jakarta Sans Light"/>
                <a:cs typeface="Plus Jakarta Sans Light"/>
                <a:sym typeface="Plus Jakarta Sans Light"/>
              </a:rPr>
              <a:t>un proceso elegido y descrito en dos o tres líneas.</a:t>
            </a:r>
            <a:endParaRPr/>
          </a:p>
        </p:txBody>
      </p:sp>
      <p:sp>
        <p:nvSpPr>
          <p:cNvPr id="271" name="Google Shape;271;p2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Paso 1: el proceso</a:t>
            </a:r>
            <a:endParaRPr/>
          </a:p>
        </p:txBody>
      </p:sp>
      <p:sp>
        <p:nvSpPr>
          <p:cNvPr id="272" name="Google Shape;272;p2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Práctica en vivo · paso a paso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Objetivo: justificar con criterio por qué conviene automatizarlo.</a:t>
            </a:r>
            <a:endParaRPr/>
          </a:p>
          <a:p>
            <a:pPr indent="0" lvl="0" marL="0" marR="0" rtl="0" algn="l">
              <a:lnSpc>
                <a:spcPct val="115000"/>
              </a:lnSpc>
              <a:spcBef>
                <a:spcPts val="35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Durante este paso vamos a:</a:t>
            </a:r>
            <a:endParaRPr/>
          </a:p>
          <a:p>
            <a:pPr indent="-285750" lvl="0" marL="285750" marR="0" rtl="0" algn="l">
              <a:lnSpc>
                <a:spcPct val="115000"/>
              </a:lnSpc>
              <a:spcBef>
                <a:spcPts val="25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Estimar cuánto tiempo te lleva hoy hacerlo a mano y con qué frecuencia se repite.</a:t>
            </a:r>
            <a:endParaRPr/>
          </a:p>
          <a:p>
            <a:pPr indent="-285750" lvl="0" marL="285750" marR="0" rtl="0" algn="l">
              <a:lnSpc>
                <a:spcPct val="115000"/>
              </a:lnSpc>
              <a:spcBef>
                <a:spcPts val="20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Preguntarte qué harías con ese tiempo: ese es el costo de oportunidad.</a:t>
            </a:r>
            <a:endParaRPr/>
          </a:p>
          <a:p>
            <a:pPr indent="-285750" lvl="0" marL="285750" marR="0" rtl="0" algn="l">
              <a:lnSpc>
                <a:spcPct val="115000"/>
              </a:lnSpc>
              <a:spcBef>
                <a:spcPts val="20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Chequear si sigue teniendo sentido cuando el volumen se multiplique por diez.</a:t>
            </a:r>
            <a:endParaRPr/>
          </a:p>
          <a:p>
            <a:pPr indent="0" lvl="0" marL="0" marR="0" rtl="0" algn="l">
              <a:lnSpc>
                <a:spcPct val="115000"/>
              </a:lnSpc>
              <a:spcBef>
                <a:spcPts val="20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Resultado esperado: </a:t>
            </a:r>
            <a:r>
              <a:rPr b="0" i="0" lang="es" sz="1200" u="none" cap="none" strike="noStrike">
                <a:solidFill>
                  <a:srgbClr val="171717"/>
                </a:solidFill>
                <a:latin typeface="Plus Jakarta Sans Light"/>
                <a:ea typeface="Plus Jakarta Sans Light"/>
                <a:cs typeface="Plus Jakarta Sans Light"/>
                <a:sym typeface="Plus Jakarta Sans Light"/>
              </a:rPr>
              <a:t>dos o tres líneas que argumentan por qué automatizarlo, y por qué no.</a:t>
            </a:r>
            <a:endParaRPr/>
          </a:p>
        </p:txBody>
      </p:sp>
      <p:sp>
        <p:nvSpPr>
          <p:cNvPr id="278" name="Google Shape;278;p2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Paso 2: el ROI</a:t>
            </a:r>
            <a:endParaRPr/>
          </a:p>
        </p:txBody>
      </p:sp>
      <p:sp>
        <p:nvSpPr>
          <p:cNvPr id="279" name="Google Shape;279;p2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Práctica en vivo · paso a paso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Objetivo: traducir el proceso a pasos de n8n.</a:t>
            </a:r>
            <a:endParaRPr/>
          </a:p>
          <a:p>
            <a:pPr indent="0" lvl="0" marL="0" marR="0" rtl="0" algn="l">
              <a:lnSpc>
                <a:spcPct val="115000"/>
              </a:lnSpc>
              <a:spcBef>
                <a:spcPts val="35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Durante este paso vamos a:</a:t>
            </a:r>
            <a:endParaRPr/>
          </a:p>
          <a:p>
            <a:pPr indent="-285750" lvl="0" marL="285750" marR="0" rtl="0" algn="l">
              <a:lnSpc>
                <a:spcPct val="115000"/>
              </a:lnSpc>
              <a:spcBef>
                <a:spcPts val="25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Definir el disparador: ¿arranca por un evento o por horario?</a:t>
            </a:r>
            <a:endParaRPr/>
          </a:p>
          <a:p>
            <a:pPr indent="-285750" lvl="0" marL="285750" marR="0" rtl="0" algn="l">
              <a:lnSpc>
                <a:spcPct val="115000"/>
              </a:lnSpc>
              <a:spcBef>
                <a:spcPts val="20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Listar los pasos intermedios y marcar en cuál entra el nodo de IA.</a:t>
            </a:r>
            <a:endParaRPr/>
          </a:p>
          <a:p>
            <a:pPr indent="-285750" lvl="0" marL="285750" marR="0" rtl="0" algn="l">
              <a:lnSpc>
                <a:spcPct val="115000"/>
              </a:lnSpc>
              <a:spcBef>
                <a:spcPts val="20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Definir el output final: dónde termina el dato y en qué formato.</a:t>
            </a:r>
            <a:endParaRPr/>
          </a:p>
          <a:p>
            <a:pPr indent="0" lvl="0" marL="0" marR="0" rtl="0" algn="l">
              <a:lnSpc>
                <a:spcPct val="115000"/>
              </a:lnSpc>
              <a:spcBef>
                <a:spcPts val="20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Resultado esperado: </a:t>
            </a:r>
            <a:r>
              <a:rPr b="0" i="0" lang="es" sz="1200" u="none" cap="none" strike="noStrike">
                <a:solidFill>
                  <a:srgbClr val="171717"/>
                </a:solidFill>
                <a:latin typeface="Plus Jakarta Sans Light"/>
                <a:ea typeface="Plus Jakarta Sans Light"/>
                <a:cs typeface="Plus Jakarta Sans Light"/>
                <a:sym typeface="Plus Jakarta Sans Light"/>
              </a:rPr>
              <a:t>una lista de pasos, o un diagrama simple, del flujo completo.</a:t>
            </a:r>
            <a:endParaRPr/>
          </a:p>
        </p:txBody>
      </p:sp>
      <p:sp>
        <p:nvSpPr>
          <p:cNvPr id="285" name="Google Shape;285;p3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Paso 3: el boceto</a:t>
            </a:r>
            <a:endParaRPr/>
          </a:p>
        </p:txBody>
      </p:sp>
      <p:sp>
        <p:nvSpPr>
          <p:cNvPr id="286" name="Google Shape;286;p3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Práctica en vivo · paso a paso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1"/>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Objetivo: escribir la instrucción que va adentro del nodo de IA.</a:t>
            </a:r>
            <a:endParaRPr/>
          </a:p>
          <a:p>
            <a:pPr indent="0" lvl="0" marL="0" marR="0" rtl="0" algn="l">
              <a:lnSpc>
                <a:spcPct val="115000"/>
              </a:lnSpc>
              <a:spcBef>
                <a:spcPts val="35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Durante este paso vamos a:</a:t>
            </a:r>
            <a:endParaRPr/>
          </a:p>
          <a:p>
            <a:pPr indent="-285750" lvl="0" marL="285750" marR="0" rtl="0" algn="l">
              <a:lnSpc>
                <a:spcPct val="115000"/>
              </a:lnSpc>
              <a:spcBef>
                <a:spcPts val="25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Aplicar la anatomía del módulo 1: persona, contexto, tarea y formato.</a:t>
            </a:r>
            <a:endParaRPr/>
          </a:p>
          <a:p>
            <a:pPr indent="-285750" lvl="0" marL="285750" marR="0" rtl="0" algn="l">
              <a:lnSpc>
                <a:spcPct val="115000"/>
              </a:lnSpc>
              <a:spcBef>
                <a:spcPts val="20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Declarar las llaves exactas del JSON que el nodo tiene que devolver.</a:t>
            </a:r>
            <a:endParaRPr/>
          </a:p>
          <a:p>
            <a:pPr indent="-285750" lvl="0" marL="285750" marR="0" rtl="0" algn="l">
              <a:lnSpc>
                <a:spcPct val="115000"/>
              </a:lnSpc>
              <a:spcBef>
                <a:spcPts val="20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Descartar cualquier versión vaga tipo “resumime esto”: eso no alcanza.</a:t>
            </a:r>
            <a:endParaRPr/>
          </a:p>
          <a:p>
            <a:pPr indent="0" lvl="0" marL="0" marR="0" rtl="0" algn="l">
              <a:lnSpc>
                <a:spcPct val="115000"/>
              </a:lnSpc>
              <a:spcBef>
                <a:spcPts val="20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Resultado esperado: </a:t>
            </a:r>
            <a:r>
              <a:rPr b="0" i="0" lang="es" sz="1200" u="none" cap="none" strike="noStrike">
                <a:solidFill>
                  <a:srgbClr val="171717"/>
                </a:solidFill>
                <a:latin typeface="Plus Jakarta Sans Light"/>
                <a:ea typeface="Plus Jakarta Sans Light"/>
                <a:cs typeface="Plus Jakarta Sans Light"/>
                <a:sym typeface="Plus Jakarta Sans Light"/>
              </a:rPr>
              <a:t>el prompt completo del nodo de IA, listo para pegar.</a:t>
            </a:r>
            <a:endParaRPr/>
          </a:p>
        </p:txBody>
      </p:sp>
      <p:sp>
        <p:nvSpPr>
          <p:cNvPr id="292" name="Google Shape;292;p3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Paso 4: el prompt</a:t>
            </a:r>
            <a:endParaRPr/>
          </a:p>
        </p:txBody>
      </p:sp>
      <p:sp>
        <p:nvSpPr>
          <p:cNvPr id="293" name="Google Shape;293;p3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Práctica en vivo · paso a paso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2"/>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Objetivo: anticipar dónde se rompe antes de que se rompa.</a:t>
            </a:r>
            <a:endParaRPr/>
          </a:p>
          <a:p>
            <a:pPr indent="0" lvl="0" marL="0" marR="0" rtl="0" algn="l">
              <a:lnSpc>
                <a:spcPct val="115000"/>
              </a:lnSpc>
              <a:spcBef>
                <a:spcPts val="35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Durante este paso vamos a:</a:t>
            </a:r>
            <a:endParaRPr/>
          </a:p>
          <a:p>
            <a:pPr indent="-285750" lvl="0" marL="285750" marR="0" rtl="0" algn="l">
              <a:lnSpc>
                <a:spcPct val="115000"/>
              </a:lnSpc>
              <a:spcBef>
                <a:spcPts val="25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Elegir un riesgo del módulo 1: alucinación, límite de contexto o ambigüedad.</a:t>
            </a:r>
            <a:endParaRPr/>
          </a:p>
          <a:p>
            <a:pPr indent="-285750" lvl="0" marL="285750" marR="0" rtl="0" algn="l">
              <a:lnSpc>
                <a:spcPct val="115000"/>
              </a:lnSpc>
              <a:spcBef>
                <a:spcPts val="20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Escribir cómo lo mitigás desde el prompt o desde el diseño del flujo.</a:t>
            </a:r>
            <a:endParaRPr/>
          </a:p>
          <a:p>
            <a:pPr indent="-285750" lvl="0" marL="285750" marR="0" rtl="0" algn="l">
              <a:lnSpc>
                <a:spcPct val="115000"/>
              </a:lnSpc>
              <a:spcBef>
                <a:spcPts val="200"/>
              </a:spcBef>
              <a:spcAft>
                <a:spcPts val="0"/>
              </a:spcAft>
              <a:buClr>
                <a:srgbClr val="FF632B"/>
              </a:buClr>
              <a:buSzPts val="1150"/>
              <a:buFont typeface="Arial"/>
              <a:buChar char="•"/>
            </a:pPr>
            <a:r>
              <a:rPr b="0" i="0" lang="es" sz="1150" u="none" cap="none" strike="noStrike">
                <a:solidFill>
                  <a:srgbClr val="171717"/>
                </a:solidFill>
                <a:latin typeface="Plus Jakarta Sans Light"/>
                <a:ea typeface="Plus Jakarta Sans Light"/>
                <a:cs typeface="Plus Jakarta Sans Light"/>
                <a:sym typeface="Plus Jakarta Sans Light"/>
              </a:rPr>
              <a:t>Juntar las cinco partes en un solo documento.</a:t>
            </a:r>
            <a:endParaRPr/>
          </a:p>
          <a:p>
            <a:pPr indent="0" lvl="0" marL="0" marR="0" rtl="0" algn="l">
              <a:lnSpc>
                <a:spcPct val="115000"/>
              </a:lnSpc>
              <a:spcBef>
                <a:spcPts val="20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Resultado esperado: </a:t>
            </a:r>
            <a:r>
              <a:rPr b="0" i="0" lang="es" sz="1200" u="none" cap="none" strike="noStrike">
                <a:solidFill>
                  <a:srgbClr val="171717"/>
                </a:solidFill>
                <a:latin typeface="Plus Jakarta Sans Light"/>
                <a:ea typeface="Plus Jakarta Sans Light"/>
                <a:cs typeface="Plus Jakarta Sans Light"/>
                <a:sym typeface="Plus Jakarta Sans Light"/>
              </a:rPr>
              <a:t>tu pre-entrega 2 terminada.</a:t>
            </a:r>
            <a:endParaRPr/>
          </a:p>
        </p:txBody>
      </p:sp>
      <p:sp>
        <p:nvSpPr>
          <p:cNvPr id="299" name="Google Shape;299;p3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3200"/>
              <a:buFont typeface="Arial"/>
              <a:buNone/>
            </a:pPr>
            <a:r>
              <a:rPr b="1" i="0" lang="es" sz="3200" u="none" cap="none" strike="noStrike">
                <a:solidFill>
                  <a:srgbClr val="FF632B"/>
                </a:solidFill>
                <a:latin typeface="Plus Jakarta Sans ExtraBold"/>
                <a:ea typeface="Plus Jakarta Sans ExtraBold"/>
                <a:cs typeface="Plus Jakarta Sans ExtraBold"/>
                <a:sym typeface="Plus Jakarta Sans ExtraBold"/>
              </a:rPr>
              <a:t>Paso 5: los riesgos</a:t>
            </a:r>
            <a:endParaRPr/>
          </a:p>
        </p:txBody>
      </p:sp>
      <p:sp>
        <p:nvSpPr>
          <p:cNvPr id="300" name="Google Shape;300;p3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Práctica en vivo · paso a paso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05</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06" name="Google Shape;306;p3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Pre-entrega 2</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El objetivo: </a:t>
            </a:r>
            <a:r>
              <a:rPr b="0" i="0" lang="es" sz="1150" u="none" cap="none" strike="noStrike">
                <a:solidFill>
                  <a:srgbClr val="171717"/>
                </a:solidFill>
                <a:latin typeface="Plus Jakarta Sans Light"/>
                <a:ea typeface="Plus Jakarta Sans Light"/>
                <a:cs typeface="Plus Jakarta Sans Light"/>
                <a:sym typeface="Plus Jakarta Sans Light"/>
              </a:rPr>
              <a:t>diseñar una automatización simple que use un paso de IA. No hace falta que funcione todavía.</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Lo que sí hace falta: </a:t>
            </a:r>
            <a:r>
              <a:rPr b="0" i="0" lang="es" sz="1150" u="none" cap="none" strike="noStrike">
                <a:solidFill>
                  <a:srgbClr val="171717"/>
                </a:solidFill>
                <a:latin typeface="Plus Jakarta Sans Light"/>
                <a:ea typeface="Plus Jakarta Sans Light"/>
                <a:cs typeface="Plus Jakarta Sans Light"/>
                <a:sym typeface="Plus Jakarta Sans Light"/>
              </a:rPr>
              <a:t>justificar por qué vale la pena automatizarla y cómo sería el prompt que la hace funcionar.</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Las cinco partes: </a:t>
            </a:r>
            <a:r>
              <a:rPr b="0" i="0" lang="es" sz="1150" u="none" cap="none" strike="noStrike">
                <a:solidFill>
                  <a:srgbClr val="171717"/>
                </a:solidFill>
                <a:latin typeface="Plus Jakarta Sans Light"/>
                <a:ea typeface="Plus Jakarta Sans Light"/>
                <a:cs typeface="Plus Jakarta Sans Light"/>
                <a:sym typeface="Plus Jakarta Sans Light"/>
              </a:rPr>
              <a:t>proceso, ROI, boceto del flujo, prompt del nodo de IA y reflexión.</a:t>
            </a:r>
            <a:endParaRPr/>
          </a:p>
          <a:p>
            <a:pPr indent="-285750" lvl="0" marL="285750" marR="0" rtl="0" algn="l">
              <a:lnSpc>
                <a:spcPct val="115000"/>
              </a:lnSpc>
              <a:spcBef>
                <a:spcPts val="400"/>
              </a:spcBef>
              <a:spcAft>
                <a:spcPts val="40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De dónde salen: </a:t>
            </a:r>
            <a:r>
              <a:rPr b="0" i="0" lang="es" sz="1150" u="none" cap="none" strike="noStrike">
                <a:solidFill>
                  <a:srgbClr val="171717"/>
                </a:solidFill>
                <a:latin typeface="Plus Jakarta Sans Light"/>
                <a:ea typeface="Plus Jakarta Sans Light"/>
                <a:cs typeface="Plus Jakarta Sans Light"/>
                <a:sym typeface="Plus Jakarta Sans Light"/>
              </a:rPr>
              <a:t>son exactamente los cinco pasos que acabamos de hacer juntos en clase.</a:t>
            </a:r>
            <a:endParaRPr/>
          </a:p>
        </p:txBody>
      </p:sp>
      <p:sp>
        <p:nvSpPr>
          <p:cNvPr id="312" name="Google Shape;312;p3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a:p>
        </p:txBody>
      </p:sp>
      <p:sp>
        <p:nvSpPr>
          <p:cNvPr id="313" name="Google Shape;313;p3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Diseñar, todavía no construir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 Duración estimada: </a:t>
            </a:r>
            <a:r>
              <a:rPr b="0" i="0" lang="es" sz="1200" u="none" cap="none" strike="noStrike">
                <a:solidFill>
                  <a:srgbClr val="171717"/>
                </a:solidFill>
                <a:latin typeface="Plus Jakarta Sans Light"/>
                <a:ea typeface="Plus Jakarta Sans Light"/>
                <a:cs typeface="Plus Jakarta Sans Light"/>
                <a:sym typeface="Plus Jakarta Sans Light"/>
              </a:rPr>
              <a:t>entre 60 y 90 minutos.</a:t>
            </a:r>
            <a:endParaRPr/>
          </a:p>
          <a:p>
            <a:pPr indent="0" lvl="0" marL="0" marR="0" rtl="0" algn="l">
              <a:lnSpc>
                <a:spcPct val="115000"/>
              </a:lnSpc>
              <a:spcBef>
                <a:spcPts val="300"/>
              </a:spcBef>
              <a:spcAft>
                <a:spcPts val="0"/>
              </a:spcAft>
              <a:buClr>
                <a:srgbClr val="000000"/>
              </a:buClr>
              <a:buSzPts val="1200"/>
              <a:buFont typeface="Arial"/>
              <a:buNone/>
            </a:pPr>
            <a:r>
              <a:rPr b="1" i="0" lang="es" sz="1200" u="none" cap="none" strike="noStrike">
                <a:solidFill>
                  <a:srgbClr val="FF632B"/>
                </a:solidFill>
                <a:latin typeface="Plus Jakarta Sans"/>
                <a:ea typeface="Plus Jakarta Sans"/>
                <a:cs typeface="Plus Jakarta Sans"/>
                <a:sym typeface="Plus Jakarta Sans"/>
              </a:rPr>
              <a:t>📄 Entrega: </a:t>
            </a:r>
            <a:r>
              <a:rPr b="0" i="0" lang="es" sz="1200" u="none" cap="none" strike="noStrike">
                <a:solidFill>
                  <a:srgbClr val="171717"/>
                </a:solidFill>
                <a:latin typeface="Plus Jakarta Sans Light"/>
                <a:ea typeface="Plus Jakarta Sans Light"/>
                <a:cs typeface="Plus Jakarta Sans Light"/>
                <a:sym typeface="Plus Jakarta Sans Light"/>
              </a:rPr>
              <a:t>un documento corto con las cinco partes desarrolladas.</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Lo que no se evalúa: </a:t>
            </a:r>
            <a:r>
              <a:rPr b="0" i="0" lang="es" sz="1200" u="none" cap="none" strike="noStrike">
                <a:solidFill>
                  <a:srgbClr val="171717"/>
                </a:solidFill>
                <a:latin typeface="Plus Jakarta Sans Light"/>
                <a:ea typeface="Plus Jakarta Sans Light"/>
                <a:cs typeface="Plus Jakarta Sans Light"/>
                <a:sym typeface="Plus Jakarta Sans Light"/>
              </a:rPr>
              <a:t>la prolijidad del diseño del documento.</a:t>
            </a:r>
            <a:endParaRPr/>
          </a:p>
          <a:p>
            <a:pPr indent="-285750" lvl="0" marL="285750" marR="0" rtl="0" algn="l">
              <a:lnSpc>
                <a:spcPct val="115000"/>
              </a:lnSpc>
              <a:spcBef>
                <a:spcPts val="400"/>
              </a:spcBef>
              <a:spcAft>
                <a:spcPts val="40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Lo que sí: </a:t>
            </a:r>
            <a:r>
              <a:rPr b="0" i="0" lang="es" sz="1200" u="none" cap="none" strike="noStrike">
                <a:solidFill>
                  <a:srgbClr val="171717"/>
                </a:solidFill>
                <a:latin typeface="Plus Jakarta Sans Light"/>
                <a:ea typeface="Plus Jakarta Sans Light"/>
                <a:cs typeface="Plus Jakarta Sans Light"/>
                <a:sym typeface="Plus Jakarta Sans Light"/>
              </a:rPr>
              <a:t>la coherencia entre el proceso que elegiste, el ROI que argumentás y el prompt que proponés.</a:t>
            </a:r>
            <a:endParaRPr/>
          </a:p>
        </p:txBody>
      </p:sp>
      <p:sp>
        <p:nvSpPr>
          <p:cNvPr id="319" name="Google Shape;319;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Tu misión</a:t>
            </a:r>
            <a:endParaRPr/>
          </a:p>
        </p:txBody>
      </p:sp>
      <p:sp>
        <p:nvSpPr>
          <p:cNvPr id="320" name="Google Shape;320;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Qué entregás y en cuánto tiempo</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150"/>
              <a:buFont typeface="Plus Jakarta Sans Light"/>
              <a:buAutoNum type="arabicPeriod"/>
            </a:pPr>
            <a:r>
              <a:rPr b="0" i="0" lang="es" sz="1150" u="none" cap="none" strike="noStrike">
                <a:solidFill>
                  <a:srgbClr val="171717"/>
                </a:solidFill>
                <a:latin typeface="Plus Jakarta Sans Light"/>
                <a:ea typeface="Plus Jakarta Sans Light"/>
                <a:cs typeface="Plus Jakarta Sans Light"/>
                <a:sym typeface="Plus Jakarta Sans Light"/>
              </a:rPr>
              <a:t>Elegí un proceso manual y repetitivo de tu trabajo, estudio o vida diaria.</a:t>
            </a:r>
            <a:endParaRPr/>
          </a:p>
          <a:p>
            <a:pPr indent="-304800" lvl="0" marL="457200" marR="0" rtl="0" algn="l">
              <a:lnSpc>
                <a:spcPct val="115000"/>
              </a:lnSpc>
              <a:spcBef>
                <a:spcPts val="400"/>
              </a:spcBef>
              <a:spcAft>
                <a:spcPts val="0"/>
              </a:spcAft>
              <a:buClr>
                <a:srgbClr val="171717"/>
              </a:buClr>
              <a:buSzPts val="1150"/>
              <a:buFont typeface="Plus Jakarta Sans Light"/>
              <a:buAutoNum type="arabicPeriod"/>
            </a:pPr>
            <a:r>
              <a:rPr b="0" i="0" lang="es" sz="1150" u="none" cap="none" strike="noStrike">
                <a:solidFill>
                  <a:srgbClr val="171717"/>
                </a:solidFill>
                <a:latin typeface="Plus Jakarta Sans Light"/>
                <a:ea typeface="Plus Jakarta Sans Light"/>
                <a:cs typeface="Plus Jakarta Sans Light"/>
                <a:sym typeface="Plus Jakarta Sans Light"/>
              </a:rPr>
              <a:t>Justificá el ROI en dos o tres líneas: tiempo, frecuencia y escalabilidad.</a:t>
            </a:r>
            <a:endParaRPr/>
          </a:p>
          <a:p>
            <a:pPr indent="-304800" lvl="0" marL="457200" marR="0" rtl="0" algn="l">
              <a:lnSpc>
                <a:spcPct val="115000"/>
              </a:lnSpc>
              <a:spcBef>
                <a:spcPts val="400"/>
              </a:spcBef>
              <a:spcAft>
                <a:spcPts val="0"/>
              </a:spcAft>
              <a:buClr>
                <a:srgbClr val="171717"/>
              </a:buClr>
              <a:buSzPts val="1150"/>
              <a:buFont typeface="Plus Jakarta Sans Light"/>
              <a:buAutoNum type="arabicPeriod"/>
            </a:pPr>
            <a:r>
              <a:rPr b="0" i="0" lang="es" sz="1150" u="none" cap="none" strike="noStrike">
                <a:solidFill>
                  <a:srgbClr val="171717"/>
                </a:solidFill>
                <a:latin typeface="Plus Jakarta Sans Light"/>
                <a:ea typeface="Plus Jakarta Sans Light"/>
                <a:cs typeface="Plus Jakarta Sans Light"/>
                <a:sym typeface="Plus Jakarta Sans Light"/>
              </a:rPr>
              <a:t>Bocetá el flujo: qué lo dispara, pasos intermedios, dónde entra la IA y cuál es el output final.</a:t>
            </a:r>
            <a:endParaRPr/>
          </a:p>
          <a:p>
            <a:pPr indent="-304800" lvl="0" marL="457200" marR="0" rtl="0" algn="l">
              <a:lnSpc>
                <a:spcPct val="115000"/>
              </a:lnSpc>
              <a:spcBef>
                <a:spcPts val="400"/>
              </a:spcBef>
              <a:spcAft>
                <a:spcPts val="0"/>
              </a:spcAft>
              <a:buClr>
                <a:srgbClr val="171717"/>
              </a:buClr>
              <a:buSzPts val="1150"/>
              <a:buFont typeface="Plus Jakarta Sans Light"/>
              <a:buAutoNum type="arabicPeriod"/>
            </a:pPr>
            <a:r>
              <a:rPr b="0" i="0" lang="es" sz="1150" u="none" cap="none" strike="noStrike">
                <a:solidFill>
                  <a:srgbClr val="171717"/>
                </a:solidFill>
                <a:latin typeface="Plus Jakarta Sans Light"/>
                <a:ea typeface="Plus Jakarta Sans Light"/>
                <a:cs typeface="Plus Jakarta Sans Light"/>
                <a:sym typeface="Plus Jakarta Sans Light"/>
              </a:rPr>
              <a:t>Escribí el prompt del nodo de IA con contexto claro, instrucción específica y formato de salida.</a:t>
            </a:r>
            <a:endParaRPr/>
          </a:p>
          <a:p>
            <a:pPr indent="-304800" lvl="0" marL="457200" marR="0" rtl="0" algn="l">
              <a:lnSpc>
                <a:spcPct val="115000"/>
              </a:lnSpc>
              <a:spcBef>
                <a:spcPts val="400"/>
              </a:spcBef>
              <a:spcAft>
                <a:spcPts val="400"/>
              </a:spcAft>
              <a:buClr>
                <a:srgbClr val="171717"/>
              </a:buClr>
              <a:buSzPts val="1150"/>
              <a:buFont typeface="Plus Jakarta Sans Light"/>
              <a:buAutoNum type="arabicPeriod"/>
            </a:pPr>
            <a:r>
              <a:rPr b="0" i="0" lang="es" sz="1150" u="none" cap="none" strike="noStrike">
                <a:solidFill>
                  <a:srgbClr val="171717"/>
                </a:solidFill>
                <a:latin typeface="Plus Jakarta Sans Light"/>
                <a:ea typeface="Plus Jakarta Sans Light"/>
                <a:cs typeface="Plus Jakarta Sans Light"/>
                <a:sym typeface="Plus Jakarta Sans Light"/>
              </a:rPr>
              <a:t>Reflexioná en tres o cuatro líneas sobre qué podría salir mal y cómo lo mitigarías.</a:t>
            </a:r>
            <a:endParaRPr/>
          </a:p>
        </p:txBody>
      </p:sp>
      <p:sp>
        <p:nvSpPr>
          <p:cNvPr id="326" name="Google Shape;326;p3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Los pasos</a:t>
            </a:r>
            <a:endParaRPr/>
          </a:p>
        </p:txBody>
      </p:sp>
      <p:sp>
        <p:nvSpPr>
          <p:cNvPr id="327" name="Google Shape;327;p3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Las cinco partes de la entrega</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Coherencia: </a:t>
            </a:r>
            <a:r>
              <a:rPr b="0" i="0" lang="es" sz="1150" u="none" cap="none" strike="noStrike">
                <a:solidFill>
                  <a:srgbClr val="171717"/>
                </a:solidFill>
                <a:latin typeface="Plus Jakarta Sans Light"/>
                <a:ea typeface="Plus Jakarta Sans Light"/>
                <a:cs typeface="Plus Jakarta Sans Light"/>
                <a:sym typeface="Plus Jakarta Sans Light"/>
              </a:rPr>
              <a:t>el proceso elegido, el ROI y el prompt cuentan la misma historia.</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Justificación del ROI: </a:t>
            </a:r>
            <a:r>
              <a:rPr b="0" i="0" lang="es" sz="1150" u="none" cap="none" strike="noStrike">
                <a:solidFill>
                  <a:srgbClr val="171717"/>
                </a:solidFill>
                <a:latin typeface="Plus Jakarta Sans Light"/>
                <a:ea typeface="Plus Jakarta Sans Light"/>
                <a:cs typeface="Plus Jakarta Sans Light"/>
                <a:sym typeface="Plus Jakarta Sans Light"/>
              </a:rPr>
              <a:t>hay tiempo, frecuencia y escalabilidad. Y una razón para no automatizarlo también.</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El boceto: </a:t>
            </a:r>
            <a:r>
              <a:rPr b="0" i="0" lang="es" sz="1150" u="none" cap="none" strike="noStrike">
                <a:solidFill>
                  <a:srgbClr val="171717"/>
                </a:solidFill>
                <a:latin typeface="Plus Jakarta Sans Light"/>
                <a:ea typeface="Plus Jakarta Sans Light"/>
                <a:cs typeface="Plus Jakarta Sans Light"/>
                <a:sym typeface="Plus Jakarta Sans Light"/>
              </a:rPr>
              <a:t>se entiende qué dispara el flujo, dónde entra la IA y dónde termina el dato.</a:t>
            </a:r>
            <a:endParaRPr/>
          </a:p>
          <a:p>
            <a:pPr indent="-285750" lvl="0" marL="285750" marR="0" rtl="0" algn="l">
              <a:lnSpc>
                <a:spcPct val="115000"/>
              </a:lnSpc>
              <a:spcBef>
                <a:spcPts val="400"/>
              </a:spcBef>
              <a:spcAft>
                <a:spcPts val="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El prompt: </a:t>
            </a:r>
            <a:r>
              <a:rPr b="0" i="0" lang="es" sz="1150" u="none" cap="none" strike="noStrike">
                <a:solidFill>
                  <a:srgbClr val="171717"/>
                </a:solidFill>
                <a:latin typeface="Plus Jakarta Sans Light"/>
                <a:ea typeface="Plus Jakarta Sans Light"/>
                <a:cs typeface="Plus Jakarta Sans Light"/>
                <a:sym typeface="Plus Jakarta Sans Light"/>
              </a:rPr>
              <a:t>tiene contexto claro, instrucción específica y formato de salida esperado.</a:t>
            </a:r>
            <a:endParaRPr/>
          </a:p>
          <a:p>
            <a:pPr indent="-285750" lvl="0" marL="285750" marR="0" rtl="0" algn="l">
              <a:lnSpc>
                <a:spcPct val="115000"/>
              </a:lnSpc>
              <a:spcBef>
                <a:spcPts val="400"/>
              </a:spcBef>
              <a:spcAft>
                <a:spcPts val="400"/>
              </a:spcAft>
              <a:buClr>
                <a:srgbClr val="FF632B"/>
              </a:buClr>
              <a:buSzPts val="1150"/>
              <a:buFont typeface="Arial"/>
              <a:buChar char="•"/>
            </a:pPr>
            <a:r>
              <a:rPr b="1" i="0" lang="es" sz="1150" u="none" cap="none" strike="noStrike">
                <a:solidFill>
                  <a:srgbClr val="171717"/>
                </a:solidFill>
                <a:latin typeface="Plus Jakarta Sans"/>
                <a:ea typeface="Plus Jakarta Sans"/>
                <a:cs typeface="Plus Jakarta Sans"/>
                <a:sym typeface="Plus Jakarta Sans"/>
              </a:rPr>
              <a:t>La reflexión: </a:t>
            </a:r>
            <a:r>
              <a:rPr b="0" i="0" lang="es" sz="1150" u="none" cap="none" strike="noStrike">
                <a:solidFill>
                  <a:srgbClr val="171717"/>
                </a:solidFill>
                <a:latin typeface="Plus Jakarta Sans Light"/>
                <a:ea typeface="Plus Jakarta Sans Light"/>
                <a:cs typeface="Plus Jakarta Sans Light"/>
                <a:sym typeface="Plus Jakarta Sans Light"/>
              </a:rPr>
              <a:t>identifica un riesgo real de cómo procesa texto un LLM y propone una mitigación.</a:t>
            </a:r>
            <a:endParaRPr/>
          </a:p>
        </p:txBody>
      </p:sp>
      <p:sp>
        <p:nvSpPr>
          <p:cNvPr id="333" name="Google Shape;333;p3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¿Cómo se evalúa?</a:t>
            </a:r>
            <a:endParaRPr/>
          </a:p>
        </p:txBody>
      </p:sp>
      <p:sp>
        <p:nvSpPr>
          <p:cNvPr id="334" name="Google Shape;334;p3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Criterios de la pre-entrega</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Lo que ya tenés: </a:t>
            </a:r>
            <a:r>
              <a:rPr b="0" i="0" lang="es" sz="1200" u="none" cap="none" strike="noStrike">
                <a:solidFill>
                  <a:srgbClr val="171717"/>
                </a:solidFill>
                <a:latin typeface="Plus Jakarta Sans Light"/>
                <a:ea typeface="Plus Jakarta Sans Light"/>
                <a:cs typeface="Plus Jakarta Sans Light"/>
                <a:sym typeface="Plus Jakarta Sans Light"/>
              </a:rPr>
              <a:t>una automatización diseñada, con su justificación y el prompt del nodo de IA escrito.</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Módulo 3: </a:t>
            </a:r>
            <a:r>
              <a:rPr b="0" i="0" lang="es" sz="1200" u="none" cap="none" strike="noStrike">
                <a:solidFill>
                  <a:srgbClr val="171717"/>
                </a:solidFill>
                <a:latin typeface="Plus Jakarta Sans Light"/>
                <a:ea typeface="Plus Jakarta Sans Light"/>
                <a:cs typeface="Plus Jakarta Sans Light"/>
                <a:sym typeface="Plus Jakarta Sans Light"/>
              </a:rPr>
              <a:t>conceptos básicos. La anatomía de un workflow y los nodos principales: IF, Switch, Merge, Wait.</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La conexión: </a:t>
            </a:r>
            <a:r>
              <a:rPr b="0" i="0" lang="es" sz="1200" u="none" cap="none" strike="noStrike">
                <a:solidFill>
                  <a:srgbClr val="171717"/>
                </a:solidFill>
                <a:latin typeface="Plus Jakarta Sans Light"/>
                <a:ea typeface="Plus Jakarta Sans Light"/>
                <a:cs typeface="Plus Jakarta Sans Light"/>
                <a:sym typeface="Plus Jakarta Sans Light"/>
              </a:rPr>
              <a:t>los pasos intermedios que hoy escribiste en una lista se van a convertir en nodos reales.</a:t>
            </a:r>
            <a:endParaRPr/>
          </a:p>
          <a:p>
            <a:pPr indent="-285750" lvl="0" marL="285750" marR="0" rtl="0" algn="l">
              <a:lnSpc>
                <a:spcPct val="115000"/>
              </a:lnSpc>
              <a:spcBef>
                <a:spcPts val="400"/>
              </a:spcBef>
              <a:spcAft>
                <a:spcPts val="40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Para llevar: </a:t>
            </a:r>
            <a:r>
              <a:rPr b="0" i="0" lang="es" sz="1200" u="none" cap="none" strike="noStrike">
                <a:solidFill>
                  <a:srgbClr val="171717"/>
                </a:solidFill>
                <a:latin typeface="Plus Jakarta Sans Light"/>
                <a:ea typeface="Plus Jakarta Sans Light"/>
                <a:cs typeface="Plus Jakarta Sans Light"/>
                <a:sym typeface="Plus Jakarta Sans Light"/>
              </a:rPr>
              <a:t>el boceto de hoy es el plano. El módulo 3 te entrega las piezas.</a:t>
            </a:r>
            <a:endParaRPr/>
          </a:p>
        </p:txBody>
      </p:sp>
      <p:sp>
        <p:nvSpPr>
          <p:cNvPr id="340" name="Google Shape;340;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¿Cómo sigue?</a:t>
            </a:r>
            <a:endParaRPr/>
          </a:p>
        </p:txBody>
      </p:sp>
      <p:sp>
        <p:nvSpPr>
          <p:cNvPr id="341" name="Google Shape;341;p3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Del boceto al flujo que corre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15000"/>
              </a:lnSpc>
              <a:spcBef>
                <a:spcPts val="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¿Quedó alguna duda </a:t>
            </a:r>
            <a:r>
              <a:rPr b="0" i="0" lang="es" sz="1200" u="none" cap="none" strike="noStrike">
                <a:solidFill>
                  <a:srgbClr val="171717"/>
                </a:solidFill>
                <a:latin typeface="Plus Jakarta Sans Light"/>
                <a:ea typeface="Plus Jakarta Sans Light"/>
                <a:cs typeface="Plus Jakarta Sans Light"/>
                <a:sym typeface="Plus Jakarta Sans Light"/>
              </a:rPr>
              <a:t>con el mapeo de datos entre un nodo y el siguiente?</a:t>
            </a:r>
            <a:endParaRPr/>
          </a:p>
          <a:p>
            <a:pPr indent="-285750" lvl="0" marL="285750" marR="0" rtl="0" algn="l">
              <a:lnSpc>
                <a:spcPct val="115000"/>
              </a:lnSpc>
              <a:spcBef>
                <a:spcPts val="400"/>
              </a:spcBef>
              <a:spcAft>
                <a:spcPts val="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¿Tu proceso elegido </a:t>
            </a:r>
            <a:r>
              <a:rPr b="0" i="0" lang="es" sz="1200" u="none" cap="none" strike="noStrike">
                <a:solidFill>
                  <a:srgbClr val="171717"/>
                </a:solidFill>
                <a:latin typeface="Plus Jakarta Sans Light"/>
                <a:ea typeface="Plus Jakarta Sans Light"/>
                <a:cs typeface="Plus Jakarta Sans Light"/>
                <a:sym typeface="Plus Jakarta Sans Light"/>
              </a:rPr>
              <a:t>pasa el filtro de alta frecuencia y bajo juicio humano?</a:t>
            </a:r>
            <a:endParaRPr/>
          </a:p>
          <a:p>
            <a:pPr indent="-285750" lvl="0" marL="285750" marR="0" rtl="0" algn="l">
              <a:lnSpc>
                <a:spcPct val="115000"/>
              </a:lnSpc>
              <a:spcBef>
                <a:spcPts val="400"/>
              </a:spcBef>
              <a:spcAft>
                <a:spcPts val="400"/>
              </a:spcAft>
              <a:buClr>
                <a:srgbClr val="FF632B"/>
              </a:buClr>
              <a:buSzPts val="1200"/>
              <a:buFont typeface="Arial"/>
              <a:buChar char="•"/>
            </a:pPr>
            <a:r>
              <a:rPr b="1" i="0" lang="es" sz="1200" u="none" cap="none" strike="noStrike">
                <a:solidFill>
                  <a:srgbClr val="171717"/>
                </a:solidFill>
                <a:latin typeface="Plus Jakarta Sans"/>
                <a:ea typeface="Plus Jakarta Sans"/>
                <a:cs typeface="Plus Jakarta Sans"/>
                <a:sym typeface="Plus Jakarta Sans"/>
              </a:rPr>
              <a:t>¿Algún error rojo </a:t>
            </a:r>
            <a:r>
              <a:rPr b="0" i="0" lang="es" sz="1200" u="none" cap="none" strike="noStrike">
                <a:solidFill>
                  <a:srgbClr val="171717"/>
                </a:solidFill>
                <a:latin typeface="Plus Jakarta Sans Light"/>
                <a:ea typeface="Plus Jakarta Sans Light"/>
                <a:cs typeface="Plus Jakarta Sans Light"/>
                <a:sym typeface="Plus Jakarta Sans Light"/>
              </a:rPr>
              <a:t>en tu instancia que no sepas cómo leer? Traelo.</a:t>
            </a:r>
            <a:endParaRPr/>
          </a:p>
        </p:txBody>
      </p:sp>
      <p:sp>
        <p:nvSpPr>
          <p:cNvPr id="347" name="Google Shape;347;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4000"/>
              <a:buFont typeface="Arial"/>
              <a:buNone/>
            </a:pPr>
            <a:r>
              <a:rPr b="1" i="0" lang="es" sz="4000" u="none" cap="none" strike="noStrike">
                <a:solidFill>
                  <a:srgbClr val="FF632B"/>
                </a:solidFill>
                <a:latin typeface="Plus Jakarta Sans ExtraBold"/>
                <a:ea typeface="Plus Jakarta Sans ExtraBold"/>
                <a:cs typeface="Plus Jakarta Sans ExtraBold"/>
                <a:sym typeface="Plus Jakarta Sans ExtraBold"/>
              </a:rPr>
              <a:t>¿Preguntas?</a:t>
            </a:r>
            <a:endParaRPr/>
          </a:p>
        </p:txBody>
      </p:sp>
      <p:sp>
        <p:nvSpPr>
          <p:cNvPr id="348" name="Google Shape;348;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Abrimos micrófonos y chat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0"/>
          <p:cNvSpPr txBox="1"/>
          <p:nvPr/>
        </p:nvSpPr>
        <p:spPr>
          <a:xfrm>
            <a:off x="571500" y="2392650"/>
            <a:ext cx="69774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4900"/>
              <a:buFont typeface="Arial"/>
              <a:buNone/>
            </a:pPr>
            <a:r>
              <a:rPr b="0" i="0" lang="es" sz="4900" u="none" cap="none" strike="noStrike">
                <a:solidFill>
                  <a:srgbClr val="F8F2E8"/>
                </a:solidFill>
                <a:latin typeface="Plus Jakarta Sans ExtraBold"/>
                <a:ea typeface="Plus Jakarta Sans ExtraBold"/>
                <a:cs typeface="Plus Jakarta Sans ExtraBold"/>
                <a:sym typeface="Plus Jakarta Sans ExtraBold"/>
              </a:rPr>
              <a:t>¡Gracias por </a:t>
            </a:r>
            <a:r>
              <a:rPr b="0" i="0" lang="es" sz="4900" u="none" cap="none" strike="noStrike">
                <a:solidFill>
                  <a:srgbClr val="FDAB2E"/>
                </a:solidFill>
                <a:latin typeface="Plus Jakarta Sans ExtraBold"/>
                <a:ea typeface="Plus Jakarta Sans ExtraBold"/>
                <a:cs typeface="Plus Jakarta Sans ExtraBold"/>
                <a:sym typeface="Plus Jakarta Sans ExtraBold"/>
              </a:rPr>
              <a:t>estudiar </a:t>
            </a:r>
            <a:r>
              <a:rPr b="0" i="0" lang="es" sz="4900" u="none" cap="none" strike="noStrike">
                <a:solidFill>
                  <a:srgbClr val="F8F2E8"/>
                </a:solidFill>
                <a:latin typeface="Plus Jakarta Sans ExtraBold"/>
                <a:ea typeface="Plus Jakarta Sans ExtraBold"/>
                <a:cs typeface="Plus Jakarta Sans ExtraBold"/>
                <a:sym typeface="Plus Jakarta Sans ExtraBold"/>
              </a:rPr>
              <a:t>con nosotros!</a:t>
            </a:r>
            <a:endParaRPr b="0" i="0" sz="49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354" name="Google Shape;354;p40"/>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F8F2E8"/>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F8F2E8"/>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F8F2E8"/>
              </a:solidFill>
              <a:latin typeface="Plus Jakarta Sans"/>
              <a:ea typeface="Plus Jakarta Sans"/>
              <a:cs typeface="Plus Jakarta Sans"/>
              <a:sym typeface="Plus Jakarta Sans"/>
            </a:endParaRPr>
          </a:p>
        </p:txBody>
      </p:sp>
      <p:pic>
        <p:nvPicPr>
          <p:cNvPr id="355" name="Google Shape;355;p40" title="Group 1321317428.png"/>
          <p:cNvPicPr preferRelativeResize="0"/>
          <p:nvPr/>
        </p:nvPicPr>
        <p:blipFill rotWithShape="1">
          <a:blip r:embed="rId3">
            <a:alphaModFix/>
          </a:blip>
          <a:srcRect b="0" l="0" r="0" t="0"/>
          <a:stretch/>
        </p:blipFill>
        <p:spPr>
          <a:xfrm>
            <a:off x="7711325" y="609525"/>
            <a:ext cx="861174" cy="8577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