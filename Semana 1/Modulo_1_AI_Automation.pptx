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41"/>
  </p:notesMasterIdLst>
  <p:sldIdLst>
    <p:sldId id="400" r:id="rId2"/>
    <p:sldId id="401" r:id="rId3"/>
    <p:sldId id="402" r:id="rId4"/>
    <p:sldId id="403" r:id="rId5"/>
    <p:sldId id="404" r:id="rId6"/>
    <p:sldId id="405" r:id="rId7"/>
    <p:sldId id="406" r:id="rId8"/>
    <p:sldId id="407" r:id="rId9"/>
    <p:sldId id="408" r:id="rId10"/>
    <p:sldId id="409" r:id="rId11"/>
    <p:sldId id="410" r:id="rId12"/>
    <p:sldId id="411" r:id="rId13"/>
    <p:sldId id="412" r:id="rId14"/>
    <p:sldId id="413" r:id="rId15"/>
    <p:sldId id="414" r:id="rId16"/>
    <p:sldId id="415" r:id="rId17"/>
    <p:sldId id="416" r:id="rId18"/>
    <p:sldId id="417" r:id="rId19"/>
    <p:sldId id="418" r:id="rId20"/>
    <p:sldId id="419" r:id="rId21"/>
    <p:sldId id="420" r:id="rId22"/>
    <p:sldId id="421" r:id="rId23"/>
    <p:sldId id="422" r:id="rId24"/>
    <p:sldId id="423" r:id="rId25"/>
    <p:sldId id="424" r:id="rId26"/>
    <p:sldId id="425" r:id="rId27"/>
    <p:sldId id="426" r:id="rId28"/>
    <p:sldId id="427" r:id="rId29"/>
    <p:sldId id="428" r:id="rId30"/>
    <p:sldId id="429" r:id="rId31"/>
    <p:sldId id="430" r:id="rId32"/>
    <p:sldId id="431" r:id="rId33"/>
    <p:sldId id="432" r:id="rId34"/>
    <p:sldId id="433" r:id="rId35"/>
    <p:sldId id="434" r:id="rId36"/>
    <p:sldId id="435" r:id="rId37"/>
    <p:sldId id="436" r:id="rId38"/>
    <p:sldId id="437" r:id="rId39"/>
    <p:sldId id="438" r:id="rId40"/>
  </p:sldIdLst>
  <p:sldSz cx="9144000" cy="5143500" type="screen16x9"/>
  <p:notesSz cx="6858000" cy="9144000"/>
  <p:embeddedFontLst>
    <p:embeddedFont>
      <p:font typeface="Plus Jakarta Sans" panose="020B0604020202020204" charset="0"/>
      <p:regular r:id="rId42"/>
      <p:bold r:id="rId43"/>
      <p:italic r:id="rId44"/>
      <p:boldItalic r:id="rId45"/>
    </p:embeddedFont>
    <p:embeddedFont>
      <p:font typeface="Plus Jakarta Sans ExtraBold" panose="020B0604020202020204" charset="0"/>
      <p:bold r:id="rId46"/>
      <p:boldItalic r:id="rId47"/>
    </p:embeddedFont>
    <p:embeddedFont>
      <p:font typeface="Plus Jakarta Sans Light" panose="020B0604020202020204"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816" y="6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notesMaster" Target="notesMasters/notesMaster1.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eige" type="blank">
  <p:cSld name="BLANK">
    <p:bg>
      <p:bgPr>
        <a:solidFill>
          <a:srgbClr val="F8F2E8"/>
        </a:solidFill>
        <a:effectLst/>
      </p:bgPr>
    </p:bg>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tardecer">
  <p:cSld name="BLANK_4">
    <p:bg>
      <p:bgPr>
        <a:solidFill>
          <a:srgbClr val="F8F2E8"/>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pic>
        <p:nvPicPr>
          <p:cNvPr id="52" name="Google Shape;52;p13" title="Group 1321318181.png"/>
          <p:cNvPicPr preferRelativeResize="0"/>
          <p:nvPr/>
        </p:nvPicPr>
        <p:blipFill>
          <a:blip r:embed="rId2">
            <a:alphaModFix/>
          </a:blip>
          <a:stretch>
            <a:fillRect/>
          </a:stretch>
        </p:blipFill>
        <p:spPr>
          <a:xfrm>
            <a:off x="0" y="2076162"/>
            <a:ext cx="9143997" cy="306733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co 1">
  <p:cSld name="BLANK_3">
    <p:bg>
      <p:bgPr>
        <a:solidFill>
          <a:schemeClr val="lt1"/>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
        <p:nvSpPr>
          <p:cNvPr id="55" name="Google Shape;55;p14"/>
          <p:cNvSpPr txBox="1"/>
          <p:nvPr/>
        </p:nvSpPr>
        <p:spPr>
          <a:xfrm>
            <a:off x="476125" y="165026"/>
            <a:ext cx="6444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Coderhouse</a:t>
            </a:r>
            <a:endParaRPr sz="500">
              <a:solidFill>
                <a:srgbClr val="222224"/>
              </a:solidFill>
              <a:latin typeface="Plus Jakarta Sans"/>
              <a:ea typeface="Plus Jakarta Sans"/>
              <a:cs typeface="Plus Jakarta Sans"/>
              <a:sym typeface="Plus Jakarta Sans"/>
            </a:endParaRPr>
          </a:p>
        </p:txBody>
      </p:sp>
      <p:sp>
        <p:nvSpPr>
          <p:cNvPr id="56" name="Google Shape;56;p14"/>
          <p:cNvSpPr txBox="1"/>
          <p:nvPr/>
        </p:nvSpPr>
        <p:spPr>
          <a:xfrm>
            <a:off x="6923014" y="165026"/>
            <a:ext cx="1188600" cy="188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Internal  Presentation</a:t>
            </a:r>
            <a:endParaRPr sz="500">
              <a:solidFill>
                <a:srgbClr val="222224"/>
              </a:solidFill>
              <a:latin typeface="Plus Jakarta Sans"/>
              <a:ea typeface="Plus Jakarta Sans"/>
              <a:cs typeface="Plus Jakarta Sans"/>
              <a:sym typeface="Plus Jakarta Sans"/>
            </a:endParaRPr>
          </a:p>
        </p:txBody>
      </p:sp>
      <p:sp>
        <p:nvSpPr>
          <p:cNvPr id="57" name="Google Shape;57;p14"/>
          <p:cNvSpPr txBox="1"/>
          <p:nvPr/>
        </p:nvSpPr>
        <p:spPr>
          <a:xfrm>
            <a:off x="2196557" y="165026"/>
            <a:ext cx="12420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2026</a:t>
            </a:r>
            <a:endParaRPr sz="500">
              <a:solidFill>
                <a:srgbClr val="222224"/>
              </a:solidFill>
              <a:latin typeface="Plus Jakarta Sans"/>
              <a:ea typeface="Plus Jakarta Sans"/>
              <a:cs typeface="Plus Jakarta Sans"/>
              <a:sym typeface="Plus Jakarta Sans"/>
            </a:endParaRPr>
          </a:p>
        </p:txBody>
      </p:sp>
      <p:sp>
        <p:nvSpPr>
          <p:cNvPr id="58" name="Google Shape;58;p14"/>
          <p:cNvSpPr txBox="1"/>
          <p:nvPr/>
        </p:nvSpPr>
        <p:spPr>
          <a:xfrm>
            <a:off x="8373525" y="90649"/>
            <a:ext cx="369600" cy="337200"/>
          </a:xfrm>
          <a:prstGeom prst="rect">
            <a:avLst/>
          </a:prstGeom>
          <a:noFill/>
          <a:ln>
            <a:noFill/>
          </a:ln>
        </p:spPr>
        <p:txBody>
          <a:bodyPr spcFirstLastPara="1" wrap="square" lIns="88475" tIns="88475" rIns="88475" bIns="88475" anchor="ctr" anchorCtr="0">
            <a:noAutofit/>
          </a:bodyPr>
          <a:lstStyle/>
          <a:p>
            <a:pPr marL="0" lvl="0" indent="0" algn="ctr" rtl="0">
              <a:lnSpc>
                <a:spcPct val="100000"/>
              </a:lnSpc>
              <a:spcBef>
                <a:spcPts val="0"/>
              </a:spcBef>
              <a:spcAft>
                <a:spcPts val="0"/>
              </a:spcAft>
              <a:buNone/>
            </a:pPr>
            <a:fld id="{00000000-1234-1234-1234-123412341234}" type="slidenum">
              <a:rPr lang="es" sz="500">
                <a:solidFill>
                  <a:srgbClr val="222224"/>
                </a:solidFill>
                <a:latin typeface="Plus Jakarta Sans"/>
                <a:ea typeface="Plus Jakarta Sans"/>
                <a:cs typeface="Plus Jakarta Sans"/>
                <a:sym typeface="Plus Jakarta Sans"/>
              </a:rPr>
              <a:t>‹Nº›</a:t>
            </a:fld>
            <a:endParaRPr sz="500">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Imagen">
  <p:cSld name="BLANK_3_1">
    <p:bg>
      <p:bgPr>
        <a:solidFill>
          <a:schemeClr val="lt1"/>
        </a:solidFill>
        <a:effectLst/>
      </p:bgPr>
    </p:bg>
    <p:spTree>
      <p:nvGrpSpPr>
        <p:cNvPr id="1" name="Shape 59"/>
        <p:cNvGrpSpPr/>
        <p:nvPr/>
      </p:nvGrpSpPr>
      <p:grpSpPr>
        <a:xfrm>
          <a:off x="0" y="0"/>
          <a:ext cx="0" cy="0"/>
          <a:chOff x="0" y="0"/>
          <a:chExt cx="0" cy="0"/>
        </a:xfrm>
      </p:grpSpPr>
      <p:pic>
        <p:nvPicPr>
          <p:cNvPr id="60" name="Google Shape;60;p15" title="27800720-6c2b-4e33-a6ed-849e08f57757.png"/>
          <p:cNvPicPr preferRelativeResize="0"/>
          <p:nvPr/>
        </p:nvPicPr>
        <p:blipFill rotWithShape="1">
          <a:blip r:embed="rId2">
            <a:alphaModFix/>
          </a:blip>
          <a:srcRect t="15047" b="53399"/>
          <a:stretch/>
        </p:blipFill>
        <p:spPr>
          <a:xfrm>
            <a:off x="-45875" y="-37100"/>
            <a:ext cx="9235751" cy="5180600"/>
          </a:xfrm>
          <a:prstGeom prst="rect">
            <a:avLst/>
          </a:prstGeom>
          <a:noFill/>
          <a:ln>
            <a:noFill/>
          </a:ln>
        </p:spPr>
      </p:pic>
      <p:sp>
        <p:nvSpPr>
          <p:cNvPr id="61" name="Google Shape;61;p15"/>
          <p:cNvSpPr txBox="1"/>
          <p:nvPr/>
        </p:nvSpPr>
        <p:spPr>
          <a:xfrm>
            <a:off x="476125" y="165026"/>
            <a:ext cx="6444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Coderhouse</a:t>
            </a:r>
            <a:endParaRPr sz="500">
              <a:solidFill>
                <a:srgbClr val="F8F2E8"/>
              </a:solidFill>
              <a:latin typeface="Plus Jakarta Sans"/>
              <a:ea typeface="Plus Jakarta Sans"/>
              <a:cs typeface="Plus Jakarta Sans"/>
              <a:sym typeface="Plus Jakarta Sans"/>
            </a:endParaRPr>
          </a:p>
        </p:txBody>
      </p:sp>
      <p:sp>
        <p:nvSpPr>
          <p:cNvPr id="62" name="Google Shape;62;p15"/>
          <p:cNvSpPr txBox="1"/>
          <p:nvPr/>
        </p:nvSpPr>
        <p:spPr>
          <a:xfrm>
            <a:off x="6923014" y="165026"/>
            <a:ext cx="1188600" cy="188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Internal  Presentation</a:t>
            </a:r>
            <a:endParaRPr sz="500">
              <a:solidFill>
                <a:srgbClr val="F8F2E8"/>
              </a:solidFill>
              <a:latin typeface="Plus Jakarta Sans"/>
              <a:ea typeface="Plus Jakarta Sans"/>
              <a:cs typeface="Plus Jakarta Sans"/>
              <a:sym typeface="Plus Jakarta Sans"/>
            </a:endParaRPr>
          </a:p>
        </p:txBody>
      </p:sp>
      <p:sp>
        <p:nvSpPr>
          <p:cNvPr id="63" name="Google Shape;63;p15"/>
          <p:cNvSpPr txBox="1"/>
          <p:nvPr/>
        </p:nvSpPr>
        <p:spPr>
          <a:xfrm>
            <a:off x="2196557" y="165026"/>
            <a:ext cx="12420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2026</a:t>
            </a:r>
            <a:endParaRPr sz="500">
              <a:solidFill>
                <a:srgbClr val="F8F2E8"/>
              </a:solidFill>
              <a:latin typeface="Plus Jakarta Sans"/>
              <a:ea typeface="Plus Jakarta Sans"/>
              <a:cs typeface="Plus Jakarta Sans"/>
              <a:sym typeface="Plus Jakarta Sans"/>
            </a:endParaRPr>
          </a:p>
        </p:txBody>
      </p:sp>
      <p:sp>
        <p:nvSpPr>
          <p:cNvPr id="64" name="Google Shape;64;p15"/>
          <p:cNvSpPr txBox="1"/>
          <p:nvPr/>
        </p:nvSpPr>
        <p:spPr>
          <a:xfrm>
            <a:off x="8373525" y="90649"/>
            <a:ext cx="369600" cy="337200"/>
          </a:xfrm>
          <a:prstGeom prst="rect">
            <a:avLst/>
          </a:prstGeom>
          <a:noFill/>
          <a:ln>
            <a:noFill/>
          </a:ln>
        </p:spPr>
        <p:txBody>
          <a:bodyPr spcFirstLastPara="1" wrap="square" lIns="88475" tIns="88475" rIns="88475" bIns="88475" anchor="ctr" anchorCtr="0">
            <a:noAutofit/>
          </a:bodyPr>
          <a:lstStyle/>
          <a:p>
            <a:pPr marL="0" lvl="0" indent="0" algn="ctr" rtl="0">
              <a:lnSpc>
                <a:spcPct val="100000"/>
              </a:lnSpc>
              <a:spcBef>
                <a:spcPts val="0"/>
              </a:spcBef>
              <a:spcAft>
                <a:spcPts val="0"/>
              </a:spcAft>
              <a:buNone/>
            </a:pPr>
            <a:fld id="{00000000-1234-1234-1234-123412341234}" type="slidenum">
              <a:rPr lang="es" sz="500">
                <a:solidFill>
                  <a:srgbClr val="F8F2E8"/>
                </a:solidFill>
                <a:latin typeface="Plus Jakarta Sans"/>
                <a:ea typeface="Plus Jakarta Sans"/>
                <a:cs typeface="Plus Jakarta Sans"/>
                <a:sym typeface="Plus Jakarta Sans"/>
              </a:rPr>
              <a:t>‹Nº›</a:t>
            </a:fld>
            <a:endParaRPr sz="500">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magen 1">
  <p:cSld name="BLANK_3_1_1">
    <p:bg>
      <p:bgPr>
        <a:solidFill>
          <a:schemeClr val="lt1"/>
        </a:solidFill>
        <a:effectLst/>
      </p:bgPr>
    </p:bg>
    <p:spTree>
      <p:nvGrpSpPr>
        <p:cNvPr id="1" name="Shape 65"/>
        <p:cNvGrpSpPr/>
        <p:nvPr/>
      </p:nvGrpSpPr>
      <p:grpSpPr>
        <a:xfrm>
          <a:off x="0" y="0"/>
          <a:ext cx="0" cy="0"/>
          <a:chOff x="0" y="0"/>
          <a:chExt cx="0" cy="0"/>
        </a:xfrm>
      </p:grpSpPr>
      <p:pic>
        <p:nvPicPr>
          <p:cNvPr id="66" name="Google Shape;66;p16" title="pexels-dystopiasavagestudios-33048706 1.png"/>
          <p:cNvPicPr preferRelativeResize="0"/>
          <p:nvPr/>
        </p:nvPicPr>
        <p:blipFill rotWithShape="1">
          <a:blip r:embed="rId2">
            <a:alphaModFix/>
          </a:blip>
          <a:srcRect t="13874" b="41728"/>
          <a:stretch/>
        </p:blipFill>
        <p:spPr>
          <a:xfrm>
            <a:off x="-45875" y="-37100"/>
            <a:ext cx="9235753" cy="5180600"/>
          </a:xfrm>
          <a:prstGeom prst="rect">
            <a:avLst/>
          </a:prstGeom>
          <a:noFill/>
          <a:ln>
            <a:noFill/>
          </a:ln>
        </p:spPr>
      </p:pic>
      <p:sp>
        <p:nvSpPr>
          <p:cNvPr id="67" name="Google Shape;67;p16"/>
          <p:cNvSpPr txBox="1"/>
          <p:nvPr/>
        </p:nvSpPr>
        <p:spPr>
          <a:xfrm>
            <a:off x="476125" y="165026"/>
            <a:ext cx="6444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Coderhouse</a:t>
            </a:r>
            <a:endParaRPr sz="500">
              <a:solidFill>
                <a:srgbClr val="F8F2E8"/>
              </a:solidFill>
              <a:latin typeface="Plus Jakarta Sans"/>
              <a:ea typeface="Plus Jakarta Sans"/>
              <a:cs typeface="Plus Jakarta Sans"/>
              <a:sym typeface="Plus Jakarta Sans"/>
            </a:endParaRPr>
          </a:p>
        </p:txBody>
      </p:sp>
      <p:sp>
        <p:nvSpPr>
          <p:cNvPr id="68" name="Google Shape;68;p16"/>
          <p:cNvSpPr txBox="1"/>
          <p:nvPr/>
        </p:nvSpPr>
        <p:spPr>
          <a:xfrm>
            <a:off x="6923014" y="165026"/>
            <a:ext cx="1188600" cy="188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Internal  Presentation</a:t>
            </a:r>
            <a:endParaRPr sz="500">
              <a:solidFill>
                <a:srgbClr val="F8F2E8"/>
              </a:solidFill>
              <a:latin typeface="Plus Jakarta Sans"/>
              <a:ea typeface="Plus Jakarta Sans"/>
              <a:cs typeface="Plus Jakarta Sans"/>
              <a:sym typeface="Plus Jakarta Sans"/>
            </a:endParaRPr>
          </a:p>
        </p:txBody>
      </p:sp>
      <p:sp>
        <p:nvSpPr>
          <p:cNvPr id="69" name="Google Shape;69;p16"/>
          <p:cNvSpPr txBox="1"/>
          <p:nvPr/>
        </p:nvSpPr>
        <p:spPr>
          <a:xfrm>
            <a:off x="2196557" y="165026"/>
            <a:ext cx="12420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2026</a:t>
            </a:r>
            <a:endParaRPr sz="500">
              <a:solidFill>
                <a:srgbClr val="F8F2E8"/>
              </a:solidFill>
              <a:latin typeface="Plus Jakarta Sans"/>
              <a:ea typeface="Plus Jakarta Sans"/>
              <a:cs typeface="Plus Jakarta Sans"/>
              <a:sym typeface="Plus Jakarta Sans"/>
            </a:endParaRPr>
          </a:p>
        </p:txBody>
      </p:sp>
      <p:sp>
        <p:nvSpPr>
          <p:cNvPr id="70" name="Google Shape;70;p16"/>
          <p:cNvSpPr txBox="1"/>
          <p:nvPr/>
        </p:nvSpPr>
        <p:spPr>
          <a:xfrm>
            <a:off x="8373525" y="90649"/>
            <a:ext cx="369600" cy="337200"/>
          </a:xfrm>
          <a:prstGeom prst="rect">
            <a:avLst/>
          </a:prstGeom>
          <a:noFill/>
          <a:ln>
            <a:noFill/>
          </a:ln>
        </p:spPr>
        <p:txBody>
          <a:bodyPr spcFirstLastPara="1" wrap="square" lIns="88475" tIns="88475" rIns="88475" bIns="88475" anchor="ctr" anchorCtr="0">
            <a:noAutofit/>
          </a:bodyPr>
          <a:lstStyle/>
          <a:p>
            <a:pPr marL="0" lvl="0" indent="0" algn="ctr" rtl="0">
              <a:lnSpc>
                <a:spcPct val="100000"/>
              </a:lnSpc>
              <a:spcBef>
                <a:spcPts val="0"/>
              </a:spcBef>
              <a:spcAft>
                <a:spcPts val="0"/>
              </a:spcAft>
              <a:buNone/>
            </a:pPr>
            <a:fld id="{00000000-1234-1234-1234-123412341234}" type="slidenum">
              <a:rPr lang="es" sz="500">
                <a:solidFill>
                  <a:srgbClr val="F8F2E8"/>
                </a:solidFill>
                <a:latin typeface="Plus Jakarta Sans"/>
                <a:ea typeface="Plus Jakarta Sans"/>
                <a:cs typeface="Plus Jakarta Sans"/>
                <a:sym typeface="Plus Jakarta Sans"/>
              </a:rPr>
              <a:t>‹Nº›</a:t>
            </a:fld>
            <a:endParaRPr sz="500">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Imagen 1 1">
  <p:cSld name="BLANK_3_1_1_1">
    <p:bg>
      <p:bgPr>
        <a:solidFill>
          <a:schemeClr val="lt1"/>
        </a:solidFill>
        <a:effectLst/>
      </p:bgPr>
    </p:bg>
    <p:spTree>
      <p:nvGrpSpPr>
        <p:cNvPr id="1" name="Shape 71"/>
        <p:cNvGrpSpPr/>
        <p:nvPr/>
      </p:nvGrpSpPr>
      <p:grpSpPr>
        <a:xfrm>
          <a:off x="0" y="0"/>
          <a:ext cx="0" cy="0"/>
          <a:chOff x="0" y="0"/>
          <a:chExt cx="0" cy="0"/>
        </a:xfrm>
      </p:grpSpPr>
      <p:pic>
        <p:nvPicPr>
          <p:cNvPr id="72" name="Google Shape;72;p17" title="4d917f2d-7c08-49ef-b177-326a60a5c815.png"/>
          <p:cNvPicPr preferRelativeResize="0"/>
          <p:nvPr/>
        </p:nvPicPr>
        <p:blipFill rotWithShape="1">
          <a:blip r:embed="rId2">
            <a:alphaModFix/>
          </a:blip>
          <a:srcRect t="34387" b="23542"/>
          <a:stretch/>
        </p:blipFill>
        <p:spPr>
          <a:xfrm>
            <a:off x="-45875" y="-37100"/>
            <a:ext cx="9235753" cy="5180600"/>
          </a:xfrm>
          <a:prstGeom prst="rect">
            <a:avLst/>
          </a:prstGeom>
          <a:noFill/>
          <a:ln>
            <a:noFill/>
          </a:ln>
        </p:spPr>
      </p:pic>
      <p:sp>
        <p:nvSpPr>
          <p:cNvPr id="73" name="Google Shape;73;p17"/>
          <p:cNvSpPr txBox="1"/>
          <p:nvPr/>
        </p:nvSpPr>
        <p:spPr>
          <a:xfrm>
            <a:off x="476125" y="165026"/>
            <a:ext cx="6444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Coderhouse</a:t>
            </a:r>
            <a:endParaRPr sz="500">
              <a:solidFill>
                <a:srgbClr val="F8F2E8"/>
              </a:solidFill>
              <a:latin typeface="Plus Jakarta Sans"/>
              <a:ea typeface="Plus Jakarta Sans"/>
              <a:cs typeface="Plus Jakarta Sans"/>
              <a:sym typeface="Plus Jakarta Sans"/>
            </a:endParaRPr>
          </a:p>
        </p:txBody>
      </p:sp>
      <p:sp>
        <p:nvSpPr>
          <p:cNvPr id="74" name="Google Shape;74;p17"/>
          <p:cNvSpPr txBox="1"/>
          <p:nvPr/>
        </p:nvSpPr>
        <p:spPr>
          <a:xfrm>
            <a:off x="6923014" y="165026"/>
            <a:ext cx="1188600" cy="188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Internal  Presentation</a:t>
            </a:r>
            <a:endParaRPr sz="500">
              <a:solidFill>
                <a:srgbClr val="F8F2E8"/>
              </a:solidFill>
              <a:latin typeface="Plus Jakarta Sans"/>
              <a:ea typeface="Plus Jakarta Sans"/>
              <a:cs typeface="Plus Jakarta Sans"/>
              <a:sym typeface="Plus Jakarta Sans"/>
            </a:endParaRPr>
          </a:p>
        </p:txBody>
      </p:sp>
      <p:sp>
        <p:nvSpPr>
          <p:cNvPr id="75" name="Google Shape;75;p17"/>
          <p:cNvSpPr txBox="1"/>
          <p:nvPr/>
        </p:nvSpPr>
        <p:spPr>
          <a:xfrm>
            <a:off x="2196557" y="165026"/>
            <a:ext cx="12420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2026</a:t>
            </a:r>
            <a:endParaRPr sz="500">
              <a:solidFill>
                <a:srgbClr val="F8F2E8"/>
              </a:solidFill>
              <a:latin typeface="Plus Jakarta Sans"/>
              <a:ea typeface="Plus Jakarta Sans"/>
              <a:cs typeface="Plus Jakarta Sans"/>
              <a:sym typeface="Plus Jakarta Sans"/>
            </a:endParaRPr>
          </a:p>
        </p:txBody>
      </p:sp>
      <p:sp>
        <p:nvSpPr>
          <p:cNvPr id="76" name="Google Shape;76;p17"/>
          <p:cNvSpPr txBox="1"/>
          <p:nvPr/>
        </p:nvSpPr>
        <p:spPr>
          <a:xfrm>
            <a:off x="8373525" y="90649"/>
            <a:ext cx="369600" cy="337200"/>
          </a:xfrm>
          <a:prstGeom prst="rect">
            <a:avLst/>
          </a:prstGeom>
          <a:noFill/>
          <a:ln>
            <a:noFill/>
          </a:ln>
        </p:spPr>
        <p:txBody>
          <a:bodyPr spcFirstLastPara="1" wrap="square" lIns="88475" tIns="88475" rIns="88475" bIns="88475" anchor="ctr" anchorCtr="0">
            <a:noAutofit/>
          </a:bodyPr>
          <a:lstStyle/>
          <a:p>
            <a:pPr marL="0" lvl="0" indent="0" algn="ctr" rtl="0">
              <a:lnSpc>
                <a:spcPct val="100000"/>
              </a:lnSpc>
              <a:spcBef>
                <a:spcPts val="0"/>
              </a:spcBef>
              <a:spcAft>
                <a:spcPts val="0"/>
              </a:spcAft>
              <a:buNone/>
            </a:pPr>
            <a:fld id="{00000000-1234-1234-1234-123412341234}" type="slidenum">
              <a:rPr lang="es" sz="500">
                <a:solidFill>
                  <a:srgbClr val="F8F2E8"/>
                </a:solidFill>
                <a:latin typeface="Plus Jakarta Sans"/>
                <a:ea typeface="Plus Jakarta Sans"/>
                <a:cs typeface="Plus Jakarta Sans"/>
                <a:sym typeface="Plus Jakarta Sans"/>
              </a:rPr>
              <a:t>‹Nº›</a:t>
            </a:fld>
            <a:endParaRPr sz="500">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Negro">
  <p:cSld name="BLANK_2">
    <p:bg>
      <p:bgPr>
        <a:solidFill>
          <a:srgbClr val="171717"/>
        </a:solidFill>
        <a:effectLst/>
      </p:bgPr>
    </p:bg>
    <p:spTree>
      <p:nvGrpSpPr>
        <p:cNvPr id="1" name="Shape 77"/>
        <p:cNvGrpSpPr/>
        <p:nvPr/>
      </p:nvGrpSpPr>
      <p:grpSpPr>
        <a:xfrm>
          <a:off x="0" y="0"/>
          <a:ext cx="0" cy="0"/>
          <a:chOff x="0" y="0"/>
          <a:chExt cx="0" cy="0"/>
        </a:xfrm>
      </p:grpSpPr>
      <p:sp>
        <p:nvSpPr>
          <p:cNvPr id="78" name="Google Shape;7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rrón">
  <p:cSld name="BLANK_2_1">
    <p:bg>
      <p:bgPr>
        <a:solidFill>
          <a:srgbClr val="260700"/>
        </a:solidFill>
        <a:effectLst/>
      </p:bgPr>
    </p:bg>
    <p:spTree>
      <p:nvGrpSpPr>
        <p:cNvPr id="1" name="Shape 79"/>
        <p:cNvGrpSpPr/>
        <p:nvPr/>
      </p:nvGrpSpPr>
      <p:grpSpPr>
        <a:xfrm>
          <a:off x="0" y="0"/>
          <a:ext cx="0" cy="0"/>
          <a:chOff x="0" y="0"/>
          <a:chExt cx="0" cy="0"/>
        </a:xfrm>
      </p:grpSpPr>
      <p:sp>
        <p:nvSpPr>
          <p:cNvPr id="80" name="Google Shape;8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aranja">
  <p:cSld name="BLANK_2_1_1">
    <p:bg>
      <p:bgPr>
        <a:solidFill>
          <a:srgbClr val="FF632B"/>
        </a:solidFill>
        <a:effectLst/>
      </p:bgPr>
    </p:bg>
    <p:spTree>
      <p:nvGrpSpPr>
        <p:cNvPr id="1" name="Shape 81"/>
        <p:cNvGrpSpPr/>
        <p:nvPr/>
      </p:nvGrpSpPr>
      <p:grpSpPr>
        <a:xfrm>
          <a:off x="0" y="0"/>
          <a:ext cx="0" cy="0"/>
          <a:chOff x="0" y="0"/>
          <a:chExt cx="0" cy="0"/>
        </a:xfrm>
      </p:grpSpPr>
      <p:sp>
        <p:nvSpPr>
          <p:cNvPr id="82" name="Google Shape;8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osa">
  <p:cSld name="BLANK_2_1_1_1">
    <p:bg>
      <p:bgPr>
        <a:solidFill>
          <a:srgbClr val="FE64A3"/>
        </a:solidFill>
        <a:effectLst/>
      </p:bgPr>
    </p:bg>
    <p:spTree>
      <p:nvGrpSpPr>
        <p:cNvPr id="1" name="Shape 83"/>
        <p:cNvGrpSpPr/>
        <p:nvPr/>
      </p:nvGrpSpPr>
      <p:grpSpPr>
        <a:xfrm>
          <a:off x="0" y="0"/>
          <a:ext cx="0" cy="0"/>
          <a:chOff x="0" y="0"/>
          <a:chExt cx="0" cy="0"/>
        </a:xfrm>
      </p:grpSpPr>
      <p:sp>
        <p:nvSpPr>
          <p:cNvPr id="84" name="Google Shape;8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Gradiente">
  <p:cSld name="BLANK_1">
    <p:spTree>
      <p:nvGrpSpPr>
        <p:cNvPr id="1" name="Shape 85"/>
        <p:cNvGrpSpPr/>
        <p:nvPr/>
      </p:nvGrpSpPr>
      <p:grpSpPr>
        <a:xfrm>
          <a:off x="0" y="0"/>
          <a:ext cx="0" cy="0"/>
          <a:chOff x="0" y="0"/>
          <a:chExt cx="0" cy="0"/>
        </a:xfrm>
      </p:grpSpPr>
      <p:pic>
        <p:nvPicPr>
          <p:cNvPr id="86" name="Google Shape;86;p22" title="Coder Facebook (6).png"/>
          <p:cNvPicPr preferRelativeResize="0"/>
          <p:nvPr/>
        </p:nvPicPr>
        <p:blipFill>
          <a:blip r:embed="rId2">
            <a:alphaModFix/>
          </a:blip>
          <a:stretch>
            <a:fillRect/>
          </a:stretch>
        </p:blipFill>
        <p:spPr>
          <a:xfrm>
            <a:off x="-111725" y="0"/>
            <a:ext cx="9255725" cy="520635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3"/>
          <p:cNvSpPr txBox="1"/>
          <p:nvPr/>
        </p:nvSpPr>
        <p:spPr>
          <a:xfrm>
            <a:off x="1340550" y="1539125"/>
            <a:ext cx="6462900" cy="1389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s" sz="5400">
                <a:solidFill>
                  <a:srgbClr val="F8F2E8"/>
                </a:solidFill>
                <a:latin typeface="Plus Jakarta Sans ExtraBold"/>
                <a:ea typeface="Plus Jakarta Sans ExtraBold"/>
                <a:cs typeface="Plus Jakarta Sans ExtraBold"/>
                <a:sym typeface="Plus Jakarta Sans ExtraBold"/>
              </a:rPr>
              <a:t>AI Automation</a:t>
            </a:r>
          </a:p>
        </p:txBody>
      </p:sp>
      <p:sp>
        <p:nvSpPr>
          <p:cNvPr id="92" name="Google Shape;92;p23"/>
          <p:cNvSpPr txBox="1"/>
          <p:nvPr/>
        </p:nvSpPr>
        <p:spPr>
          <a:xfrm>
            <a:off x="1340550" y="1338150"/>
            <a:ext cx="6462900" cy="318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s" sz="1000">
                <a:solidFill>
                  <a:srgbClr val="F8F2E8"/>
                </a:solidFill>
                <a:latin typeface="Plus Jakarta Sans Light"/>
                <a:ea typeface="Plus Jakarta Sans Light"/>
                <a:cs typeface="Plus Jakarta Sans Light"/>
                <a:sym typeface="Plus Jakarta Sans Light"/>
              </a:rPr>
              <a:t>Curso: AI Automation</a:t>
            </a:r>
          </a:p>
        </p:txBody>
      </p:sp>
      <p:pic>
        <p:nvPicPr>
          <p:cNvPr id="93" name="Google Shape;93;p23" title="logo gradient 1.png"/>
          <p:cNvPicPr preferRelativeResize="0"/>
          <p:nvPr/>
        </p:nvPicPr>
        <p:blipFill>
          <a:blip r:embed="rId2">
            <a:alphaModFix/>
          </a:blip>
          <a:stretch>
            <a:fillRect/>
          </a:stretch>
        </p:blipFill>
        <p:spPr>
          <a:xfrm>
            <a:off x="3830803" y="4523150"/>
            <a:ext cx="1547950" cy="452250"/>
          </a:xfrm>
          <a:prstGeom prst="rect">
            <a:avLst/>
          </a:prstGeom>
          <a:noFill/>
          <a:ln>
            <a:noFill/>
          </a:ln>
        </p:spPr>
      </p:pic>
      <p:sp>
        <p:nvSpPr>
          <p:cNvPr id="94" name="Google Shape;94;p23"/>
          <p:cNvSpPr txBox="1"/>
          <p:nvPr/>
        </p:nvSpPr>
        <p:spPr>
          <a:xfrm>
            <a:off x="1373325" y="3219550"/>
            <a:ext cx="6462900" cy="318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s" sz="1400" b="1">
                <a:solidFill>
                  <a:srgbClr val="F8F2E8"/>
                </a:solidFill>
                <a:latin typeface="Plus Jakarta Sans"/>
                <a:ea typeface="Plus Jakarta Sans"/>
                <a:cs typeface="Plus Jakarta Sans"/>
                <a:sym typeface="Plus Jakarta Sans"/>
              </a:rPr>
              <a:t>Módulo 1: </a:t>
            </a:r>
            <a:r>
              <a:rPr lang="es" sz="1400">
                <a:solidFill>
                  <a:srgbClr val="F8F2E8"/>
                </a:solidFill>
                <a:latin typeface="Plus Jakarta Sans Light"/>
                <a:ea typeface="Plus Jakarta Sans Light"/>
                <a:cs typeface="Plus Jakarta Sans Light"/>
                <a:sym typeface="Plus Jakarta Sans Light"/>
              </a:rPr>
              <a:t>Introducción a la IA, el Prompt Engineering y las automatizaciones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3"/>
          <p:cNvSpPr txBox="1"/>
          <p:nvPr/>
        </p:nvSpPr>
        <p:spPr>
          <a:xfrm>
            <a:off x="1340550" y="656475"/>
            <a:ext cx="6462900" cy="840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800">
                <a:solidFill>
                  <a:srgbClr val="260700"/>
                </a:solidFill>
                <a:latin typeface="Plus Jakarta Sans ExtraBold"/>
                <a:ea typeface="Plus Jakarta Sans ExtraBold"/>
                <a:cs typeface="Plus Jakarta Sans ExtraBold"/>
                <a:sym typeface="Plus Jakarta Sans ExtraBold"/>
              </a:rPr>
              <a:t>Presentación</a:t>
            </a:r>
            <a:endParaRPr sz="2800">
              <a:solidFill>
                <a:srgbClr val="260700"/>
              </a:solidFill>
              <a:latin typeface="Plus Jakarta Sans ExtraBold"/>
              <a:ea typeface="Plus Jakarta Sans ExtraBold"/>
              <a:cs typeface="Plus Jakarta Sans ExtraBold"/>
              <a:sym typeface="Plus Jakarta Sans ExtraBold"/>
            </a:endParaRPr>
          </a:p>
          <a:p>
            <a:pPr marL="0" lvl="0" indent="0" algn="ctr" rtl="0">
              <a:spcBef>
                <a:spcPts val="0"/>
              </a:spcBef>
              <a:spcAft>
                <a:spcPts val="0"/>
              </a:spcAft>
              <a:buNone/>
            </a:pPr>
            <a:r>
              <a:rPr lang="es" sz="2800">
                <a:solidFill>
                  <a:srgbClr val="260700"/>
                </a:solidFill>
                <a:latin typeface="Plus Jakarta Sans ExtraBold"/>
                <a:ea typeface="Plus Jakarta Sans ExtraBold"/>
                <a:cs typeface="Plus Jakarta Sans ExtraBold"/>
                <a:sym typeface="Plus Jakarta Sans ExtraBold"/>
              </a:rPr>
              <a:t>del </a:t>
            </a:r>
            <a:r>
              <a:rPr lang="es" sz="2800">
                <a:solidFill>
                  <a:srgbClr val="260700"/>
                </a:solidFill>
                <a:highlight>
                  <a:srgbClr val="FDAB2E"/>
                </a:highlight>
                <a:latin typeface="Plus Jakarta Sans ExtraBold"/>
                <a:ea typeface="Plus Jakarta Sans ExtraBold"/>
                <a:cs typeface="Plus Jakarta Sans ExtraBold"/>
                <a:sym typeface="Plus Jakarta Sans ExtraBold"/>
              </a:rPr>
              <a:t>equipo</a:t>
            </a:r>
            <a:r>
              <a:rPr lang="es" sz="2800">
                <a:solidFill>
                  <a:srgbClr val="260700"/>
                </a:solidFill>
                <a:latin typeface="Plus Jakarta Sans ExtraBold"/>
                <a:ea typeface="Plus Jakarta Sans ExtraBold"/>
                <a:cs typeface="Plus Jakarta Sans ExtraBold"/>
                <a:sym typeface="Plus Jakarta Sans ExtraBold"/>
              </a:rPr>
              <a:t>:</a:t>
            </a:r>
            <a:endParaRPr sz="2800">
              <a:solidFill>
                <a:srgbClr val="260700"/>
              </a:solidFill>
              <a:latin typeface="Plus Jakarta Sans"/>
              <a:ea typeface="Plus Jakarta Sans"/>
              <a:cs typeface="Plus Jakarta Sans"/>
              <a:sym typeface="Plus Jakarta Sans"/>
            </a:endParaRPr>
          </a:p>
        </p:txBody>
      </p:sp>
      <p:grpSp>
        <p:nvGrpSpPr>
          <p:cNvPr id="275" name="Google Shape;275;p43"/>
          <p:cNvGrpSpPr/>
          <p:nvPr/>
        </p:nvGrpSpPr>
        <p:grpSpPr>
          <a:xfrm>
            <a:off x="1228250" y="2131275"/>
            <a:ext cx="2108575" cy="2116875"/>
            <a:chOff x="1157575" y="2131275"/>
            <a:chExt cx="2108575" cy="2116875"/>
          </a:xfrm>
        </p:grpSpPr>
        <p:pic>
          <p:nvPicPr>
            <p:cNvPr id="276" name="Google Shape;276;p43" title="bd164216-1890-4e45-86ba-f529a22ec08f.png"/>
            <p:cNvPicPr preferRelativeResize="0"/>
            <p:nvPr/>
          </p:nvPicPr>
          <p:blipFill rotWithShape="1">
            <a:blip r:embed="rId2">
              <a:alphaModFix/>
            </a:blip>
            <a:srcRect b="19652"/>
            <a:stretch/>
          </p:blipFill>
          <p:spPr>
            <a:xfrm>
              <a:off x="1161650" y="2131275"/>
              <a:ext cx="2104500" cy="2116800"/>
            </a:xfrm>
            <a:prstGeom prst="roundRect">
              <a:avLst>
                <a:gd name="adj" fmla="val 11966"/>
              </a:avLst>
            </a:prstGeom>
            <a:noFill/>
            <a:ln>
              <a:noFill/>
            </a:ln>
          </p:spPr>
        </p:pic>
        <p:sp>
          <p:nvSpPr>
            <p:cNvPr id="277" name="Google Shape;277;p43"/>
            <p:cNvSpPr/>
            <p:nvPr/>
          </p:nvSpPr>
          <p:spPr>
            <a:xfrm>
              <a:off x="1157575" y="3510150"/>
              <a:ext cx="2104500" cy="738000"/>
            </a:xfrm>
            <a:prstGeom prst="round2SameRect">
              <a:avLst>
                <a:gd name="adj1" fmla="val 0"/>
                <a:gd name="adj2" fmla="val 34038"/>
              </a:avLst>
            </a:prstGeom>
            <a:solidFill>
              <a:srgbClr val="FF632B"/>
            </a:solidFill>
            <a:ln>
              <a:noFill/>
            </a:ln>
          </p:spPr>
          <p:txBody>
            <a:bodyPr spcFirstLastPara="1" wrap="square" lIns="91425" tIns="91425" rIns="91425" bIns="91425" anchor="ctr" anchorCtr="0">
              <a:noAutofit/>
            </a:bodyPr>
            <a:lstStyle/>
            <a:p>
              <a:pPr marL="165215" lvl="0" indent="0" algn="l" rtl="0">
                <a:spcBef>
                  <a:spcPts val="0"/>
                </a:spcBef>
                <a:spcAft>
                  <a:spcPts val="0"/>
                </a:spcAft>
                <a:buNone/>
              </a:pPr>
              <a:r>
                <a:rPr lang="es" sz="1300" b="1">
                  <a:solidFill>
                    <a:srgbClr val="F8F2E8"/>
                  </a:solidFill>
                  <a:latin typeface="Plus Jakarta Sans"/>
                  <a:ea typeface="Plus Jakarta Sans"/>
                  <a:cs typeface="Plus Jakarta Sans"/>
                  <a:sym typeface="Plus Jakarta Sans"/>
                </a:rPr>
                <a:t>Profesor:</a:t>
              </a:r>
              <a:endParaRPr sz="1300" b="1">
                <a:solidFill>
                  <a:srgbClr val="F8F2E8"/>
                </a:solidFill>
                <a:latin typeface="Plus Jakarta Sans"/>
                <a:ea typeface="Plus Jakarta Sans"/>
                <a:cs typeface="Plus Jakarta Sans"/>
                <a:sym typeface="Plus Jakarta Sans"/>
              </a:endParaRPr>
            </a:p>
            <a:p>
              <a:pPr marL="165215" lvl="0" indent="0" algn="l" rtl="0">
                <a:spcBef>
                  <a:spcPts val="0"/>
                </a:spcBef>
                <a:spcAft>
                  <a:spcPts val="0"/>
                </a:spcAft>
                <a:buNone/>
              </a:pPr>
              <a:r>
                <a:rPr lang="es" sz="800">
                  <a:solidFill>
                    <a:srgbClr val="F8F2E8"/>
                  </a:solidFill>
                  <a:latin typeface="Plus Jakarta Sans"/>
                  <a:ea typeface="Plus Jakarta Sans"/>
                  <a:cs typeface="Plus Jakarta Sans"/>
                  <a:sym typeface="Plus Jakarta Sans"/>
                </a:rPr>
                <a:t>subtexto</a:t>
              </a:r>
              <a:endParaRPr>
                <a:solidFill>
                  <a:schemeClr val="lt1"/>
                </a:solidFill>
              </a:endParaRPr>
            </a:p>
          </p:txBody>
        </p:sp>
      </p:grpSp>
      <p:grpSp>
        <p:nvGrpSpPr>
          <p:cNvPr id="278" name="Google Shape;278;p43"/>
          <p:cNvGrpSpPr/>
          <p:nvPr/>
        </p:nvGrpSpPr>
        <p:grpSpPr>
          <a:xfrm>
            <a:off x="3517713" y="2131275"/>
            <a:ext cx="2108575" cy="2116875"/>
            <a:chOff x="1157575" y="2131275"/>
            <a:chExt cx="2108575" cy="2116875"/>
          </a:xfrm>
        </p:grpSpPr>
        <p:pic>
          <p:nvPicPr>
            <p:cNvPr id="279" name="Google Shape;279;p43" title="bd164216-1890-4e45-86ba-f529a22ec08f.png"/>
            <p:cNvPicPr preferRelativeResize="0"/>
            <p:nvPr/>
          </p:nvPicPr>
          <p:blipFill rotWithShape="1">
            <a:blip r:embed="rId2">
              <a:alphaModFix/>
            </a:blip>
            <a:srcRect b="19652"/>
            <a:stretch/>
          </p:blipFill>
          <p:spPr>
            <a:xfrm>
              <a:off x="1161650" y="2131275"/>
              <a:ext cx="2104500" cy="2116800"/>
            </a:xfrm>
            <a:prstGeom prst="roundRect">
              <a:avLst>
                <a:gd name="adj" fmla="val 11966"/>
              </a:avLst>
            </a:prstGeom>
            <a:noFill/>
            <a:ln>
              <a:noFill/>
            </a:ln>
          </p:spPr>
        </p:pic>
        <p:sp>
          <p:nvSpPr>
            <p:cNvPr id="280" name="Google Shape;280;p43"/>
            <p:cNvSpPr/>
            <p:nvPr/>
          </p:nvSpPr>
          <p:spPr>
            <a:xfrm>
              <a:off x="1157575" y="3510150"/>
              <a:ext cx="2104500" cy="738000"/>
            </a:xfrm>
            <a:prstGeom prst="round2SameRect">
              <a:avLst>
                <a:gd name="adj1" fmla="val 0"/>
                <a:gd name="adj2" fmla="val 34038"/>
              </a:avLst>
            </a:prstGeom>
            <a:solidFill>
              <a:srgbClr val="FF632B"/>
            </a:solidFill>
            <a:ln>
              <a:noFill/>
            </a:ln>
          </p:spPr>
          <p:txBody>
            <a:bodyPr spcFirstLastPara="1" wrap="square" lIns="91425" tIns="91425" rIns="91425" bIns="91425" anchor="ctr" anchorCtr="0">
              <a:noAutofit/>
            </a:bodyPr>
            <a:lstStyle/>
            <a:p>
              <a:pPr marL="165215" lvl="0" indent="0" algn="l" rtl="0">
                <a:spcBef>
                  <a:spcPts val="0"/>
                </a:spcBef>
                <a:spcAft>
                  <a:spcPts val="0"/>
                </a:spcAft>
                <a:buClr>
                  <a:schemeClr val="dk1"/>
                </a:buClr>
                <a:buSzPts val="1100"/>
                <a:buFont typeface="Arial"/>
                <a:buNone/>
              </a:pPr>
              <a:r>
                <a:rPr lang="es" sz="1300" b="1">
                  <a:solidFill>
                    <a:srgbClr val="F8F2E8"/>
                  </a:solidFill>
                  <a:latin typeface="Plus Jakarta Sans"/>
                  <a:ea typeface="Plus Jakarta Sans"/>
                  <a:cs typeface="Plus Jakarta Sans"/>
                  <a:sym typeface="Plus Jakarta Sans"/>
                </a:rPr>
                <a:t>Coordinador:</a:t>
              </a:r>
              <a:endParaRPr sz="1300" b="1">
                <a:solidFill>
                  <a:srgbClr val="F8F2E8"/>
                </a:solidFill>
                <a:latin typeface="Plus Jakarta Sans"/>
                <a:ea typeface="Plus Jakarta Sans"/>
                <a:cs typeface="Plus Jakarta Sans"/>
                <a:sym typeface="Plus Jakarta Sans"/>
              </a:endParaRPr>
            </a:p>
            <a:p>
              <a:pPr marL="165215" lvl="0" indent="0" algn="l" rtl="0">
                <a:spcBef>
                  <a:spcPts val="0"/>
                </a:spcBef>
                <a:spcAft>
                  <a:spcPts val="0"/>
                </a:spcAft>
                <a:buClr>
                  <a:schemeClr val="dk1"/>
                </a:buClr>
                <a:buSzPts val="1100"/>
                <a:buFont typeface="Arial"/>
                <a:buNone/>
              </a:pPr>
              <a:r>
                <a:rPr lang="es" sz="800">
                  <a:solidFill>
                    <a:srgbClr val="F8F2E8"/>
                  </a:solidFill>
                  <a:latin typeface="Plus Jakarta Sans"/>
                  <a:ea typeface="Plus Jakarta Sans"/>
                  <a:cs typeface="Plus Jakarta Sans"/>
                  <a:sym typeface="Plus Jakarta Sans"/>
                </a:rPr>
                <a:t>subtexto</a:t>
              </a:r>
              <a:endParaRPr sz="1300" b="1">
                <a:solidFill>
                  <a:srgbClr val="F8F2E8"/>
                </a:solidFill>
                <a:latin typeface="Plus Jakarta Sans"/>
                <a:ea typeface="Plus Jakarta Sans"/>
                <a:cs typeface="Plus Jakarta Sans"/>
                <a:sym typeface="Plus Jakarta Sans"/>
              </a:endParaRPr>
            </a:p>
          </p:txBody>
        </p:sp>
      </p:grpSp>
      <p:grpSp>
        <p:nvGrpSpPr>
          <p:cNvPr id="281" name="Google Shape;281;p43"/>
          <p:cNvGrpSpPr/>
          <p:nvPr/>
        </p:nvGrpSpPr>
        <p:grpSpPr>
          <a:xfrm>
            <a:off x="5807200" y="2131275"/>
            <a:ext cx="2108575" cy="2116875"/>
            <a:chOff x="1157575" y="2131275"/>
            <a:chExt cx="2108575" cy="2116875"/>
          </a:xfrm>
        </p:grpSpPr>
        <p:pic>
          <p:nvPicPr>
            <p:cNvPr id="282" name="Google Shape;282;p43" title="bd164216-1890-4e45-86ba-f529a22ec08f.png"/>
            <p:cNvPicPr preferRelativeResize="0"/>
            <p:nvPr/>
          </p:nvPicPr>
          <p:blipFill rotWithShape="1">
            <a:blip r:embed="rId2">
              <a:alphaModFix/>
            </a:blip>
            <a:srcRect b="19652"/>
            <a:stretch/>
          </p:blipFill>
          <p:spPr>
            <a:xfrm>
              <a:off x="1161650" y="2131275"/>
              <a:ext cx="2104500" cy="2116800"/>
            </a:xfrm>
            <a:prstGeom prst="roundRect">
              <a:avLst>
                <a:gd name="adj" fmla="val 11966"/>
              </a:avLst>
            </a:prstGeom>
            <a:noFill/>
            <a:ln>
              <a:noFill/>
            </a:ln>
          </p:spPr>
        </p:pic>
        <p:sp>
          <p:nvSpPr>
            <p:cNvPr id="283" name="Google Shape;283;p43"/>
            <p:cNvSpPr/>
            <p:nvPr/>
          </p:nvSpPr>
          <p:spPr>
            <a:xfrm>
              <a:off x="1157575" y="3510150"/>
              <a:ext cx="2104500" cy="738000"/>
            </a:xfrm>
            <a:prstGeom prst="round2SameRect">
              <a:avLst>
                <a:gd name="adj1" fmla="val 0"/>
                <a:gd name="adj2" fmla="val 34038"/>
              </a:avLst>
            </a:prstGeom>
            <a:solidFill>
              <a:srgbClr val="FF632B"/>
            </a:solidFill>
            <a:ln>
              <a:noFill/>
            </a:ln>
          </p:spPr>
          <p:txBody>
            <a:bodyPr spcFirstLastPara="1" wrap="square" lIns="91425" tIns="91425" rIns="91425" bIns="91425" anchor="ctr" anchorCtr="0">
              <a:noAutofit/>
            </a:bodyPr>
            <a:lstStyle/>
            <a:p>
              <a:pPr marL="165215" lvl="0" indent="0" algn="l" rtl="0">
                <a:spcBef>
                  <a:spcPts val="0"/>
                </a:spcBef>
                <a:spcAft>
                  <a:spcPts val="0"/>
                </a:spcAft>
                <a:buClr>
                  <a:schemeClr val="dk1"/>
                </a:buClr>
                <a:buSzPts val="1100"/>
                <a:buFont typeface="Arial"/>
                <a:buNone/>
              </a:pPr>
              <a:r>
                <a:rPr lang="es" sz="1300" b="1">
                  <a:solidFill>
                    <a:srgbClr val="F8F2E8"/>
                  </a:solidFill>
                  <a:latin typeface="Plus Jakarta Sans"/>
                  <a:ea typeface="Plus Jakarta Sans"/>
                  <a:cs typeface="Plus Jakarta Sans"/>
                  <a:sym typeface="Plus Jakarta Sans"/>
                </a:rPr>
                <a:t>Tutor:</a:t>
              </a:r>
              <a:endParaRPr sz="1300" b="1">
                <a:solidFill>
                  <a:srgbClr val="F8F2E8"/>
                </a:solidFill>
                <a:latin typeface="Plus Jakarta Sans"/>
                <a:ea typeface="Plus Jakarta Sans"/>
                <a:cs typeface="Plus Jakarta Sans"/>
                <a:sym typeface="Plus Jakarta Sans"/>
              </a:endParaRPr>
            </a:p>
            <a:p>
              <a:pPr marL="165215" lvl="0" indent="0" algn="l" rtl="0">
                <a:spcBef>
                  <a:spcPts val="0"/>
                </a:spcBef>
                <a:spcAft>
                  <a:spcPts val="0"/>
                </a:spcAft>
                <a:buClr>
                  <a:schemeClr val="dk1"/>
                </a:buClr>
                <a:buSzPts val="1100"/>
                <a:buFont typeface="Arial"/>
                <a:buNone/>
              </a:pPr>
              <a:r>
                <a:rPr lang="es" sz="800">
                  <a:solidFill>
                    <a:srgbClr val="F8F2E8"/>
                  </a:solidFill>
                  <a:latin typeface="Plus Jakarta Sans"/>
                  <a:ea typeface="Plus Jakarta Sans"/>
                  <a:cs typeface="Plus Jakarta Sans"/>
                  <a:sym typeface="Plus Jakarta Sans"/>
                </a:rPr>
                <a:t>subtexto</a:t>
              </a:r>
              <a:endParaRPr sz="1300" b="1">
                <a:solidFill>
                  <a:srgbClr val="F8F2E8"/>
                </a:solidFill>
                <a:latin typeface="Plus Jakarta Sans"/>
                <a:ea typeface="Plus Jakarta Sans"/>
                <a:cs typeface="Plus Jakarta Sans"/>
                <a:sym typeface="Plus Jakarta Sans"/>
              </a:endParaRPr>
            </a:p>
          </p:txBody>
        </p:sp>
      </p:grpSp>
      <p:sp>
        <p:nvSpPr>
          <p:cNvPr id="284" name="Google Shape;284;p43"/>
          <p:cNvSpPr/>
          <p:nvPr/>
        </p:nvSpPr>
        <p:spPr>
          <a:xfrm>
            <a:off x="6624550" y="1200525"/>
            <a:ext cx="1117200" cy="424200"/>
          </a:xfrm>
          <a:prstGeom prst="wedgeRectCallout">
            <a:avLst>
              <a:gd name="adj1" fmla="val -33452"/>
              <a:gd name="adj2" fmla="val 98680"/>
            </a:avLst>
          </a:prstGeom>
          <a:solidFill>
            <a:srgbClr val="FF632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sz="700">
                <a:solidFill>
                  <a:srgbClr val="F8F2E8"/>
                </a:solidFill>
                <a:latin typeface="Plus Jakarta Sans"/>
                <a:ea typeface="Plus Jakarta Sans"/>
                <a:cs typeface="Plus Jakarta Sans"/>
                <a:sym typeface="Plus Jakarta Sans"/>
              </a:rPr>
              <a:t>COMISIÓN N° XXXX</a:t>
            </a:r>
            <a:endParaRPr sz="700">
              <a:solidFill>
                <a:srgbClr val="F8F2E8"/>
              </a:solidFill>
              <a:latin typeface="Plus Jakarta Sans"/>
              <a:ea typeface="Plus Jakarta Sans"/>
              <a:cs typeface="Plus Jakarta Sans"/>
              <a:sym typeface="Plus Jakart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4"/>
          <p:cNvSpPr txBox="1"/>
          <p:nvPr/>
        </p:nvSpPr>
        <p:spPr>
          <a:xfrm>
            <a:off x="900000" y="150000"/>
            <a:ext cx="7500000" cy="13899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s" sz="8000">
                <a:solidFill>
                  <a:srgbClr val="FF632B"/>
                </a:solidFill>
                <a:latin typeface="Plus Jakarta Sans ExtraBold"/>
                <a:ea typeface="Plus Jakarta Sans ExtraBold"/>
                <a:cs typeface="Plus Jakarta Sans ExtraBold"/>
                <a:sym typeface="Plus Jakarta Sans ExtraBold"/>
              </a:rPr>
              <a:t>Objetivos</a:t>
            </a:r>
          </a:p>
        </p:txBody>
      </p:sp>
      <p:sp>
        <p:nvSpPr>
          <p:cNvPr id="193" name="Google Shape;193;p34"/>
          <p:cNvSpPr txBox="1"/>
          <p:nvPr/>
        </p:nvSpPr>
        <p:spPr>
          <a:xfrm>
            <a:off x="649500" y="2512850"/>
            <a:ext cx="6462900" cy="2269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400"/>
              </a:spcAft>
              <a:buNone/>
            </a:pPr>
            <a:r>
              <a:rPr lang="es" sz="1300" b="1">
                <a:solidFill>
                  <a:srgbClr val="FF632B"/>
                </a:solidFill>
                <a:latin typeface="Plus Jakarta Sans"/>
                <a:ea typeface="Plus Jakarta Sans"/>
                <a:cs typeface="Plus Jakarta Sans"/>
                <a:sym typeface="Plus Jakarta Sans"/>
              </a:rPr>
              <a:t>Al finalizar esta clase vas a poder…</a:t>
            </a:r>
          </a:p>
          <a:p>
            <a:pPr marL="457200" lvl="0" indent="-304800" algn="l" rtl="0">
              <a:lnSpc>
                <a:spcPct val="115000"/>
              </a:lnSpc>
              <a:spcBef>
                <a:spcPts val="0"/>
              </a:spcBef>
              <a:spcAft>
                <a:spcPts val="400"/>
              </a:spcAft>
              <a:buClr>
                <a:srgbClr val="171717"/>
              </a:buClr>
              <a:buSzPts val="1200"/>
              <a:buFont typeface="Plus Jakarta Sans Light"/>
              <a:buAutoNum type="arabicPeriod"/>
            </a:pPr>
            <a:r>
              <a:rPr lang="es" sz="1200">
                <a:solidFill>
                  <a:srgbClr val="171717"/>
                </a:solidFill>
                <a:latin typeface="Plus Jakarta Sans Light"/>
                <a:ea typeface="Plus Jakarta Sans Light"/>
                <a:cs typeface="Plus Jakarta Sans Light"/>
                <a:sym typeface="Plus Jakarta Sans Light"/>
              </a:rPr>
              <a:t>Explicar qué es la IA, qué es un LLM y por qué no son lo mismo que una automatización.</a:t>
            </a:r>
          </a:p>
          <a:p>
            <a:pPr marL="457200" lvl="0" indent="-304800" algn="l" rtl="0">
              <a:lnSpc>
                <a:spcPct val="115000"/>
              </a:lnSpc>
              <a:spcBef>
                <a:spcPts val="0"/>
              </a:spcBef>
              <a:spcAft>
                <a:spcPts val="400"/>
              </a:spcAft>
              <a:buClr>
                <a:srgbClr val="171717"/>
              </a:buClr>
              <a:buSzPts val="1200"/>
              <a:buFont typeface="Plus Jakarta Sans Light"/>
              <a:buAutoNum type="arabicPeriod"/>
            </a:pPr>
            <a:r>
              <a:rPr lang="es" sz="1200">
                <a:solidFill>
                  <a:srgbClr val="171717"/>
                </a:solidFill>
                <a:latin typeface="Plus Jakarta Sans Light"/>
                <a:ea typeface="Plus Jakarta Sans Light"/>
                <a:cs typeface="Plus Jakarta Sans Light"/>
                <a:sym typeface="Plus Jakarta Sans Light"/>
              </a:rPr>
              <a:t>Describir cómo un modelo procesa texto: tokens, tokenizador y ventana de contexto.</a:t>
            </a:r>
          </a:p>
          <a:p>
            <a:pPr marL="457200" lvl="0" indent="-304800" algn="l" rtl="0">
              <a:lnSpc>
                <a:spcPct val="115000"/>
              </a:lnSpc>
              <a:spcBef>
                <a:spcPts val="0"/>
              </a:spcBef>
              <a:spcAft>
                <a:spcPts val="400"/>
              </a:spcAft>
              <a:buClr>
                <a:srgbClr val="171717"/>
              </a:buClr>
              <a:buSzPts val="1200"/>
              <a:buFont typeface="Plus Jakarta Sans Light"/>
              <a:buAutoNum type="arabicPeriod"/>
            </a:pPr>
            <a:r>
              <a:rPr lang="es" sz="1200">
                <a:solidFill>
                  <a:srgbClr val="171717"/>
                </a:solidFill>
                <a:latin typeface="Plus Jakarta Sans Light"/>
                <a:ea typeface="Plus Jakarta Sans Light"/>
                <a:cs typeface="Plus Jakarta Sans Light"/>
                <a:sym typeface="Plus Jakarta Sans Light"/>
              </a:rPr>
              <a:t>Identificar por qué la IA alucina y aplicar técnicas para reducirlo.</a:t>
            </a:r>
          </a:p>
          <a:p>
            <a:pPr marL="457200" lvl="0" indent="-304800" algn="l" rtl="0">
              <a:lnSpc>
                <a:spcPct val="115000"/>
              </a:lnSpc>
              <a:spcBef>
                <a:spcPts val="0"/>
              </a:spcBef>
              <a:spcAft>
                <a:spcPts val="400"/>
              </a:spcAft>
              <a:buClr>
                <a:srgbClr val="171717"/>
              </a:buClr>
              <a:buSzPts val="1200"/>
              <a:buFont typeface="Plus Jakarta Sans Light"/>
              <a:buAutoNum type="arabicPeriod"/>
            </a:pPr>
            <a:r>
              <a:rPr lang="es" sz="1200">
                <a:solidFill>
                  <a:srgbClr val="171717"/>
                </a:solidFill>
                <a:latin typeface="Plus Jakarta Sans Light"/>
                <a:ea typeface="Plus Jakarta Sans Light"/>
                <a:cs typeface="Plus Jakarta Sans Light"/>
                <a:sym typeface="Plus Jakarta Sans Light"/>
              </a:rPr>
              <a:t>Escribir prompts con estructura profesional: persona, contexto, tarea y formato.</a:t>
            </a:r>
          </a:p>
          <a:p>
            <a:pPr marL="457200" lvl="0" indent="-304800" algn="l" rtl="0">
              <a:lnSpc>
                <a:spcPct val="115000"/>
              </a:lnSpc>
              <a:spcBef>
                <a:spcPts val="0"/>
              </a:spcBef>
              <a:spcAft>
                <a:spcPts val="400"/>
              </a:spcAft>
              <a:buClr>
                <a:srgbClr val="171717"/>
              </a:buClr>
              <a:buSzPts val="1200"/>
              <a:buFont typeface="Plus Jakarta Sans Light"/>
              <a:buAutoNum type="arabicPeriod"/>
            </a:pPr>
            <a:r>
              <a:rPr lang="es" sz="1200">
                <a:solidFill>
                  <a:srgbClr val="171717"/>
                </a:solidFill>
                <a:latin typeface="Plus Jakarta Sans Light"/>
                <a:ea typeface="Plus Jakarta Sans Light"/>
                <a:cs typeface="Plus Jakarta Sans Light"/>
                <a:sym typeface="Plus Jakarta Sans Light"/>
              </a:rPr>
              <a:t>Forzar salidas en JSON válido, listas para usar en una automatización.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4"/>
          <p:cNvSpPr txBox="1"/>
          <p:nvPr/>
        </p:nvSpPr>
        <p:spPr>
          <a:xfrm>
            <a:off x="900000" y="150000"/>
            <a:ext cx="7500000" cy="138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8000">
                <a:solidFill>
                  <a:srgbClr val="FF632B"/>
                </a:solidFill>
                <a:latin typeface="Plus Jakarta Sans ExtraBold"/>
                <a:ea typeface="Plus Jakarta Sans ExtraBold"/>
                <a:cs typeface="Plus Jakarta Sans ExtraBold"/>
                <a:sym typeface="Plus Jakarta Sans ExtraBold"/>
              </a:rPr>
              <a:t>Agenda</a:t>
            </a:r>
            <a:endParaRPr sz="8000">
              <a:solidFill>
                <a:srgbClr val="FF632B"/>
              </a:solidFill>
              <a:latin typeface="Plus Jakarta Sans ExtraBold"/>
              <a:ea typeface="Plus Jakarta Sans ExtraBold"/>
              <a:cs typeface="Plus Jakarta Sans ExtraBold"/>
              <a:sym typeface="Plus Jakarta Sans ExtraBold"/>
            </a:endParaRPr>
          </a:p>
        </p:txBody>
      </p:sp>
      <p:sp>
        <p:nvSpPr>
          <p:cNvPr id="193" name="Google Shape;193;p34"/>
          <p:cNvSpPr txBox="1"/>
          <p:nvPr/>
        </p:nvSpPr>
        <p:spPr>
          <a:xfrm>
            <a:off x="649500" y="2512850"/>
            <a:ext cx="6462900" cy="22695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400"/>
              </a:spcAft>
              <a:buClr>
                <a:srgbClr val="171717"/>
              </a:buClr>
              <a:buSzPts val="1300"/>
              <a:buFont typeface="Plus Jakarta Sans Light"/>
              <a:buAutoNum type="arabicPeriod"/>
            </a:pPr>
            <a:r>
              <a:rPr lang="es" sz="1300">
                <a:solidFill>
                  <a:srgbClr val="171717"/>
                </a:solidFill>
                <a:latin typeface="Plus Jakarta Sans Light"/>
                <a:ea typeface="Plus Jakarta Sans Light"/>
                <a:cs typeface="Plus Jakarta Sans Light"/>
                <a:sym typeface="Plus Jakarta Sans Light"/>
              </a:rPr>
              <a:t>Qué es la IA y qué es un LLM</a:t>
            </a:r>
          </a:p>
          <a:p>
            <a:pPr marL="457200" lvl="0" indent="-304800" algn="l" rtl="0">
              <a:lnSpc>
                <a:spcPct val="115000"/>
              </a:lnSpc>
              <a:spcBef>
                <a:spcPts val="0"/>
              </a:spcBef>
              <a:spcAft>
                <a:spcPts val="400"/>
              </a:spcAft>
              <a:buClr>
                <a:srgbClr val="171717"/>
              </a:buClr>
              <a:buSzPts val="1300"/>
              <a:buFont typeface="Plus Jakarta Sans Light"/>
              <a:buAutoNum type="arabicPeriod"/>
            </a:pPr>
            <a:r>
              <a:rPr lang="es" sz="1300">
                <a:solidFill>
                  <a:srgbClr val="171717"/>
                </a:solidFill>
                <a:latin typeface="Plus Jakarta Sans Light"/>
                <a:ea typeface="Plus Jakarta Sans Light"/>
                <a:cs typeface="Plus Jakarta Sans Light"/>
                <a:sym typeface="Plus Jakarta Sans Light"/>
              </a:rPr>
              <a:t>Tokens, ventana de contexto y alucinaciones</a:t>
            </a:r>
          </a:p>
          <a:p>
            <a:pPr marL="457200" lvl="0" indent="-304800" algn="l" rtl="0">
              <a:lnSpc>
                <a:spcPct val="115000"/>
              </a:lnSpc>
              <a:spcBef>
                <a:spcPts val="0"/>
              </a:spcBef>
              <a:spcAft>
                <a:spcPts val="400"/>
              </a:spcAft>
              <a:buClr>
                <a:srgbClr val="171717"/>
              </a:buClr>
              <a:buSzPts val="1300"/>
              <a:buFont typeface="Plus Jakarta Sans Light"/>
              <a:buAutoNum type="arabicPeriod"/>
            </a:pPr>
            <a:r>
              <a:rPr lang="es" sz="1300">
                <a:solidFill>
                  <a:srgbClr val="171717"/>
                </a:solidFill>
                <a:latin typeface="Plus Jakarta Sans Light"/>
                <a:ea typeface="Plus Jakarta Sans Light"/>
                <a:cs typeface="Plus Jakarta Sans Light"/>
                <a:sym typeface="Plus Jakarta Sans Light"/>
              </a:rPr>
              <a:t>Prompt Engineering: anatomía y técnicas</a:t>
            </a:r>
          </a:p>
          <a:p>
            <a:pPr marL="457200" lvl="0" indent="-304800" algn="l" rtl="0">
              <a:lnSpc>
                <a:spcPct val="115000"/>
              </a:lnSpc>
              <a:spcBef>
                <a:spcPts val="0"/>
              </a:spcBef>
              <a:spcAft>
                <a:spcPts val="400"/>
              </a:spcAft>
              <a:buClr>
                <a:srgbClr val="171717"/>
              </a:buClr>
              <a:buSzPts val="1300"/>
              <a:buFont typeface="Plus Jakarta Sans Light"/>
              <a:buAutoNum type="arabicPeriod"/>
            </a:pPr>
            <a:r>
              <a:rPr lang="es" sz="1300">
                <a:solidFill>
                  <a:srgbClr val="171717"/>
                </a:solidFill>
                <a:latin typeface="Plus Jakarta Sans Light"/>
                <a:ea typeface="Plus Jakarta Sans Light"/>
                <a:cs typeface="Plus Jakarta Sans Light"/>
                <a:sym typeface="Plus Jakarta Sans Light"/>
              </a:rPr>
              <a:t>Break</a:t>
            </a:r>
          </a:p>
          <a:p>
            <a:pPr marL="457200" lvl="0" indent="-304800" algn="l" rtl="0">
              <a:lnSpc>
                <a:spcPct val="115000"/>
              </a:lnSpc>
              <a:spcBef>
                <a:spcPts val="0"/>
              </a:spcBef>
              <a:spcAft>
                <a:spcPts val="400"/>
              </a:spcAft>
              <a:buClr>
                <a:srgbClr val="171717"/>
              </a:buClr>
              <a:buSzPts val="1300"/>
              <a:buFont typeface="Plus Jakarta Sans Light"/>
              <a:buAutoNum type="arabicPeriod"/>
            </a:pPr>
            <a:r>
              <a:rPr lang="es" sz="1300">
                <a:solidFill>
                  <a:srgbClr val="171717"/>
                </a:solidFill>
                <a:latin typeface="Plus Jakarta Sans Light"/>
                <a:ea typeface="Plus Jakarta Sans Light"/>
                <a:cs typeface="Plus Jakarta Sans Light"/>
                <a:sym typeface="Plus Jakarta Sans Light"/>
              </a:rPr>
              <a:t>Práctica en vivo: de un email desordenado a JSON</a:t>
            </a:r>
          </a:p>
          <a:p>
            <a:pPr marL="457200" lvl="0" indent="-304800" algn="l" rtl="0">
              <a:lnSpc>
                <a:spcPct val="115000"/>
              </a:lnSpc>
              <a:spcBef>
                <a:spcPts val="0"/>
              </a:spcBef>
              <a:spcAft>
                <a:spcPts val="400"/>
              </a:spcAft>
              <a:buClr>
                <a:srgbClr val="171717"/>
              </a:buClr>
              <a:buSzPts val="1300"/>
              <a:buFont typeface="Plus Jakarta Sans Light"/>
              <a:buAutoNum type="arabicPeriod"/>
            </a:pPr>
            <a:r>
              <a:rPr lang="es" sz="1300">
                <a:solidFill>
                  <a:srgbClr val="171717"/>
                </a:solidFill>
                <a:latin typeface="Plus Jakarta Sans Light"/>
                <a:ea typeface="Plus Jakarta Sans Light"/>
                <a:cs typeface="Plus Jakarta Sans Light"/>
                <a:sym typeface="Plus Jakarta Sans Light"/>
              </a:rPr>
              <a:t>Tu desafío del módulo</a:t>
            </a:r>
          </a:p>
          <a:p>
            <a:pPr marL="457200" lvl="0" indent="-304800" algn="l" rtl="0">
              <a:lnSpc>
                <a:spcPct val="115000"/>
              </a:lnSpc>
              <a:spcBef>
                <a:spcPts val="0"/>
              </a:spcBef>
              <a:spcAft>
                <a:spcPts val="400"/>
              </a:spcAft>
              <a:buClr>
                <a:srgbClr val="171717"/>
              </a:buClr>
              <a:buSzPts val="1300"/>
              <a:buFont typeface="Plus Jakarta Sans Light"/>
              <a:buAutoNum type="arabicPeriod"/>
            </a:pPr>
            <a:r>
              <a:rPr lang="es" sz="1300">
                <a:solidFill>
                  <a:srgbClr val="171717"/>
                </a:solidFill>
                <a:latin typeface="Plus Jakarta Sans Light"/>
                <a:ea typeface="Plus Jakarta Sans Light"/>
                <a:cs typeface="Plus Jakarta Sans Light"/>
                <a:sym typeface="Plus Jakarta Sans Light"/>
              </a:rPr>
              <a:t>Preguntas y cierre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9"/>
          <p:cNvSpPr txBox="1"/>
          <p:nvPr/>
        </p:nvSpPr>
        <p:spPr>
          <a:xfrm>
            <a:off x="652525" y="1336525"/>
            <a:ext cx="3873300" cy="17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a:solidFill>
                  <a:srgbClr val="F8F2E8"/>
                </a:solidFill>
                <a:latin typeface="Plus Jakarta Sans ExtraBold"/>
                <a:ea typeface="Plus Jakarta Sans ExtraBold"/>
                <a:cs typeface="Plus Jakarta Sans ExtraBold"/>
                <a:sym typeface="Plus Jakarta Sans ExtraBold"/>
              </a:rPr>
              <a:t>¡Esta clase va a ser     grabada!	</a:t>
            </a:r>
            <a:endParaRPr sz="4800">
              <a:solidFill>
                <a:srgbClr val="F8F2E8"/>
              </a:solidFill>
              <a:latin typeface="Plus Jakarta Sans ExtraBold"/>
              <a:ea typeface="Plus Jakarta Sans ExtraBold"/>
              <a:cs typeface="Plus Jakarta Sans ExtraBold"/>
              <a:sym typeface="Plus Jakarta Sans ExtraBold"/>
            </a:endParaRPr>
          </a:p>
        </p:txBody>
      </p:sp>
      <p:sp>
        <p:nvSpPr>
          <p:cNvPr id="461" name="Google Shape;461;p59"/>
          <p:cNvSpPr/>
          <p:nvPr/>
        </p:nvSpPr>
        <p:spPr>
          <a:xfrm>
            <a:off x="3601525" y="3168750"/>
            <a:ext cx="228300" cy="228300"/>
          </a:xfrm>
          <a:prstGeom prst="ellipse">
            <a:avLst/>
          </a:prstGeom>
          <a:solidFill>
            <a:srgbClr val="FDAB2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6"/>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a:solidFill>
                  <a:srgbClr val="FF632B"/>
                </a:solidFill>
                <a:latin typeface="Plus Jakarta Sans ExtraBold"/>
                <a:ea typeface="Plus Jakarta Sans ExtraBold"/>
                <a:cs typeface="Plus Jakarta Sans ExtraBold"/>
                <a:sym typeface="Plus Jakarta Sans ExtraBold"/>
              </a:rPr>
              <a:t>01</a:t>
            </a:r>
            <a:endParaRPr sz="13000">
              <a:solidFill>
                <a:srgbClr val="FF632B"/>
              </a:solidFill>
              <a:latin typeface="Plus Jakarta Sans ExtraBold"/>
              <a:ea typeface="Plus Jakarta Sans ExtraBold"/>
              <a:cs typeface="Plus Jakarta Sans ExtraBold"/>
              <a:sym typeface="Plus Jakarta Sans ExtraBold"/>
            </a:endParaRPr>
          </a:p>
        </p:txBody>
      </p:sp>
      <p:sp>
        <p:nvSpPr>
          <p:cNvPr id="230" name="Google Shape;230;p36"/>
          <p:cNvSpPr txBox="1"/>
          <p:nvPr/>
        </p:nvSpPr>
        <p:spPr>
          <a:xfrm>
            <a:off x="641650" y="3337375"/>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3200">
                <a:solidFill>
                  <a:srgbClr val="F8F2E8"/>
                </a:solidFill>
                <a:latin typeface="Plus Jakarta Sans ExtraBold"/>
                <a:ea typeface="Plus Jakarta Sans ExtraBold"/>
                <a:cs typeface="Plus Jakarta Sans ExtraBold"/>
                <a:sym typeface="Plus Jakarta Sans ExtraBold"/>
              </a:rPr>
              <a:t>Qué es la IA y qué es un LLM</a:t>
            </a:r>
            <a:endParaRPr sz="320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No es un producto: </a:t>
            </a:r>
            <a:r>
              <a:rPr lang="es" sz="1200">
                <a:solidFill>
                  <a:srgbClr val="171717"/>
                </a:solidFill>
                <a:latin typeface="Plus Jakarta Sans Light"/>
                <a:ea typeface="Plus Jakarta Sans Light"/>
                <a:cs typeface="Plus Jakarta Sans Light"/>
                <a:sym typeface="Plus Jakarta Sans Light"/>
              </a:rPr>
              <a:t>Claude o ChatGPT son productos. La Inteligencia Artificial es una rama de la informática, como la ciberseguridad o la ciencia de datos.</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Su objetivo: </a:t>
            </a:r>
            <a:r>
              <a:rPr lang="es" sz="1200">
                <a:solidFill>
                  <a:srgbClr val="171717"/>
                </a:solidFill>
                <a:latin typeface="Plus Jakarta Sans Light"/>
                <a:ea typeface="Plus Jakarta Sans Light"/>
                <a:cs typeface="Plus Jakarta Sans Light"/>
                <a:sym typeface="Plus Jakarta Sans Light"/>
              </a:rPr>
              <a:t>desarrollar sistemas capaces de realizar tareas que necesitan inteligencia humana.</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Por qué nos importa acá: </a:t>
            </a:r>
            <a:r>
              <a:rPr lang="es" sz="1200">
                <a:solidFill>
                  <a:srgbClr val="171717"/>
                </a:solidFill>
                <a:latin typeface="Plus Jakarta Sans Light"/>
                <a:ea typeface="Plus Jakarta Sans Light"/>
                <a:cs typeface="Plus Jakarta Sans Light"/>
                <a:sym typeface="Plus Jakarta Sans Light"/>
              </a:rPr>
              <a:t>esa capacidad es la que después va a vivir adentro de nuestras automatizaciones.</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4000" b="1">
                <a:solidFill>
                  <a:srgbClr val="FF632B"/>
                </a:solidFill>
                <a:latin typeface="Plus Jakarta Sans ExtraBold"/>
                <a:ea typeface="Plus Jakarta Sans ExtraBold"/>
                <a:cs typeface="Plus Jakarta Sans ExtraBold"/>
                <a:sym typeface="Plus Jakarta Sans ExtraBold"/>
              </a:rPr>
              <a:t>¿Qué es la IA?</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Una rama de la informática, no un producto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400"/>
              </a:spcAft>
              <a:buClr>
                <a:srgbClr val="FF632B"/>
              </a:buClr>
              <a:buSzPts val="1150"/>
              <a:buFont typeface="Arial"/>
              <a:buChar char="•"/>
            </a:pPr>
            <a:r>
              <a:rPr lang="es" sz="1150" b="1">
                <a:solidFill>
                  <a:srgbClr val="171717"/>
                </a:solidFill>
                <a:latin typeface="Plus Jakarta Sans"/>
                <a:ea typeface="Plus Jakarta Sans"/>
                <a:cs typeface="Plus Jakarta Sans"/>
                <a:sym typeface="Plus Jakarta Sans"/>
              </a:rPr>
              <a:t>Machine Learning: </a:t>
            </a:r>
            <a:r>
              <a:rPr lang="es" sz="1150">
                <a:solidFill>
                  <a:srgbClr val="171717"/>
                </a:solidFill>
                <a:latin typeface="Plus Jakarta Sans Light"/>
                <a:ea typeface="Plus Jakarta Sans Light"/>
                <a:cs typeface="Plus Jakarta Sans Light"/>
                <a:sym typeface="Plus Jakarta Sans Light"/>
              </a:rPr>
              <a:t>las máquinas aprenden a partir de ejemplos e identifican patrones sin que les digamos qué hacer. Cuantos más datos reciben, mejores resultados dan.</a:t>
            </a:r>
          </a:p>
          <a:p>
            <a:pPr marL="285750" lvl="0" indent="-285750" algn="l" rtl="0">
              <a:lnSpc>
                <a:spcPct val="115000"/>
              </a:lnSpc>
              <a:spcBef>
                <a:spcPts val="0"/>
              </a:spcBef>
              <a:spcAft>
                <a:spcPts val="400"/>
              </a:spcAft>
              <a:buClr>
                <a:srgbClr val="FF632B"/>
              </a:buClr>
              <a:buSzPts val="1150"/>
              <a:buFont typeface="Arial"/>
              <a:buChar char="•"/>
            </a:pPr>
            <a:r>
              <a:rPr lang="es" sz="1150" b="1">
                <a:solidFill>
                  <a:srgbClr val="171717"/>
                </a:solidFill>
                <a:latin typeface="Plus Jakarta Sans"/>
                <a:ea typeface="Plus Jakarta Sans"/>
                <a:cs typeface="Plus Jakarta Sans"/>
                <a:sym typeface="Plus Jakarta Sans"/>
              </a:rPr>
              <a:t>Deep Learning: </a:t>
            </a:r>
            <a:r>
              <a:rPr lang="es" sz="1150">
                <a:solidFill>
                  <a:srgbClr val="171717"/>
                </a:solidFill>
                <a:latin typeface="Plus Jakarta Sans Light"/>
                <a:ea typeface="Plus Jakarta Sans Light"/>
                <a:cs typeface="Plus Jakarta Sans Light"/>
                <a:sym typeface="Plus Jakarta Sans Light"/>
              </a:rPr>
              <a:t>subcampo del Machine Learning. Usa redes neuronales de múltiples capas para resolver problemas complejos.</a:t>
            </a:r>
          </a:p>
          <a:p>
            <a:pPr marL="285750" lvl="0" indent="-285750" algn="l" rtl="0">
              <a:lnSpc>
                <a:spcPct val="115000"/>
              </a:lnSpc>
              <a:spcBef>
                <a:spcPts val="0"/>
              </a:spcBef>
              <a:spcAft>
                <a:spcPts val="400"/>
              </a:spcAft>
              <a:buClr>
                <a:srgbClr val="FF632B"/>
              </a:buClr>
              <a:buSzPts val="1150"/>
              <a:buFont typeface="Arial"/>
              <a:buChar char="•"/>
            </a:pPr>
            <a:r>
              <a:rPr lang="es" sz="1150" b="1">
                <a:solidFill>
                  <a:srgbClr val="171717"/>
                </a:solidFill>
                <a:latin typeface="Plus Jakarta Sans"/>
                <a:ea typeface="Plus Jakarta Sans"/>
                <a:cs typeface="Plus Jakarta Sans"/>
                <a:sym typeface="Plus Jakarta Sans"/>
              </a:rPr>
              <a:t>NLP: </a:t>
            </a:r>
            <a:r>
              <a:rPr lang="es" sz="1150">
                <a:solidFill>
                  <a:srgbClr val="171717"/>
                </a:solidFill>
                <a:latin typeface="Plus Jakarta Sans Light"/>
                <a:ea typeface="Plus Jakarta Sans Light"/>
                <a:cs typeface="Plus Jakarta Sans Light"/>
                <a:sym typeface="Plus Jakarta Sans Light"/>
              </a:rPr>
              <a:t>procesamiento de lenguaje natural. Se ocupa de que la máquina entienda el lenguaje humano hablado y escrito.</a:t>
            </a:r>
          </a:p>
          <a:p>
            <a:pPr marL="285750" lvl="0" indent="-285750" algn="l" rtl="0">
              <a:lnSpc>
                <a:spcPct val="115000"/>
              </a:lnSpc>
              <a:spcBef>
                <a:spcPts val="0"/>
              </a:spcBef>
              <a:spcAft>
                <a:spcPts val="400"/>
              </a:spcAft>
              <a:buClr>
                <a:srgbClr val="FF632B"/>
              </a:buClr>
              <a:buSzPts val="1150"/>
              <a:buFont typeface="Arial"/>
              <a:buChar char="•"/>
            </a:pPr>
            <a:r>
              <a:rPr lang="es" sz="1150" b="1">
                <a:solidFill>
                  <a:srgbClr val="171717"/>
                </a:solidFill>
                <a:latin typeface="Plus Jakarta Sans"/>
                <a:ea typeface="Plus Jakarta Sans"/>
                <a:cs typeface="Plus Jakarta Sans"/>
                <a:sym typeface="Plus Jakarta Sans"/>
              </a:rPr>
              <a:t>Visión artificial: </a:t>
            </a:r>
            <a:r>
              <a:rPr lang="es" sz="1150">
                <a:solidFill>
                  <a:srgbClr val="171717"/>
                </a:solidFill>
                <a:latin typeface="Plus Jakarta Sans Light"/>
                <a:ea typeface="Plus Jakarta Sans Light"/>
                <a:cs typeface="Plus Jakarta Sans Light"/>
                <a:sym typeface="Plus Jakarta Sans Light"/>
              </a:rPr>
              <a:t>la contracara del NLP. Se enfoca en entender imágenes y videos.</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4000" b="1">
                <a:solidFill>
                  <a:srgbClr val="FF632B"/>
                </a:solidFill>
                <a:latin typeface="Plus Jakarta Sans ExtraBold"/>
                <a:ea typeface="Plus Jakarta Sans ExtraBold"/>
                <a:cs typeface="Plus Jakarta Sans ExtraBold"/>
                <a:sym typeface="Plus Jakarta Sans ExtraBold"/>
              </a:rPr>
              <a:t>Los subcampos</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Dónde vive lo que vamos a usar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400"/>
              </a:spcAft>
              <a:buClr>
                <a:srgbClr val="FF632B"/>
              </a:buClr>
              <a:buSzPts val="1150"/>
              <a:buFont typeface="Arial"/>
              <a:buChar char="•"/>
            </a:pPr>
            <a:r>
              <a:rPr lang="es" sz="1150" b="1">
                <a:solidFill>
                  <a:srgbClr val="171717"/>
                </a:solidFill>
                <a:latin typeface="Plus Jakarta Sans"/>
                <a:ea typeface="Plus Jakarta Sans"/>
                <a:cs typeface="Plus Jakarta Sans"/>
                <a:sym typeface="Plus Jakarta Sans"/>
              </a:rPr>
              <a:t>La fórmula: </a:t>
            </a:r>
            <a:r>
              <a:rPr lang="es" sz="1150">
                <a:solidFill>
                  <a:srgbClr val="171717"/>
                </a:solidFill>
                <a:latin typeface="Plus Jakarta Sans Light"/>
                <a:ea typeface="Plus Jakarta Sans Light"/>
                <a:cs typeface="Plus Jakarta Sans Light"/>
                <a:sym typeface="Plus Jakarta Sans Light"/>
              </a:rPr>
              <a:t>redes neuronales profundas entrenadas con cantidades masivas de texto sacado de internet: libros, foros, artículos.</a:t>
            </a:r>
          </a:p>
          <a:p>
            <a:pPr marL="285750" lvl="0" indent="-285750" algn="l" rtl="0">
              <a:lnSpc>
                <a:spcPct val="115000"/>
              </a:lnSpc>
              <a:spcBef>
                <a:spcPts val="0"/>
              </a:spcBef>
              <a:spcAft>
                <a:spcPts val="400"/>
              </a:spcAft>
              <a:buClr>
                <a:srgbClr val="FF632B"/>
              </a:buClr>
              <a:buSzPts val="1150"/>
              <a:buFont typeface="Arial"/>
              <a:buChar char="•"/>
            </a:pPr>
            <a:r>
              <a:rPr lang="es" sz="1150" b="1">
                <a:solidFill>
                  <a:srgbClr val="171717"/>
                </a:solidFill>
                <a:latin typeface="Plus Jakarta Sans"/>
                <a:ea typeface="Plus Jakarta Sans"/>
                <a:cs typeface="Plus Jakarta Sans"/>
                <a:sym typeface="Plus Jakarta Sans"/>
              </a:rPr>
              <a:t>Qué aprende: </a:t>
            </a:r>
            <a:r>
              <a:rPr lang="es" sz="1150">
                <a:solidFill>
                  <a:srgbClr val="171717"/>
                </a:solidFill>
                <a:latin typeface="Plus Jakarta Sans Light"/>
                <a:ea typeface="Plus Jakarta Sans Light"/>
                <a:cs typeface="Plus Jakarta Sans Light"/>
                <a:sym typeface="Plus Jakarta Sans Light"/>
              </a:rPr>
              <a:t>patrones. Qué palabras suelen seguir a otras, cómo se estructura una frase.</a:t>
            </a:r>
          </a:p>
          <a:p>
            <a:pPr marL="285750" lvl="0" indent="-285750" algn="l" rtl="0">
              <a:lnSpc>
                <a:spcPct val="115000"/>
              </a:lnSpc>
              <a:spcBef>
                <a:spcPts val="0"/>
              </a:spcBef>
              <a:spcAft>
                <a:spcPts val="400"/>
              </a:spcAft>
              <a:buClr>
                <a:srgbClr val="FF632B"/>
              </a:buClr>
              <a:buSzPts val="1150"/>
              <a:buFont typeface="Arial"/>
              <a:buChar char="•"/>
            </a:pPr>
            <a:r>
              <a:rPr lang="es" sz="1150" b="1">
                <a:solidFill>
                  <a:srgbClr val="171717"/>
                </a:solidFill>
                <a:latin typeface="Plus Jakarta Sans"/>
                <a:ea typeface="Plus Jakarta Sans"/>
                <a:cs typeface="Plus Jakarta Sans"/>
                <a:sym typeface="Plus Jakarta Sans"/>
              </a:rPr>
              <a:t>Cómo responde: </a:t>
            </a:r>
            <a:r>
              <a:rPr lang="es" sz="1150">
                <a:solidFill>
                  <a:srgbClr val="171717"/>
                </a:solidFill>
                <a:latin typeface="Plus Jakarta Sans Light"/>
                <a:ea typeface="Plus Jakarta Sans Light"/>
                <a:cs typeface="Plus Jakarta Sans Light"/>
                <a:sym typeface="Plus Jakarta Sans Light"/>
              </a:rPr>
              <a:t>por probabilidad. Si son las 21:00 y leés “Hola, buenas ___”, sabés que viene “noches”. El modelo hace exactamente eso, pero con matemática.</a:t>
            </a:r>
          </a:p>
          <a:p>
            <a:pPr marL="285750" lvl="0" indent="-285750" algn="l" rtl="0">
              <a:lnSpc>
                <a:spcPct val="115000"/>
              </a:lnSpc>
              <a:spcBef>
                <a:spcPts val="0"/>
              </a:spcBef>
              <a:spcAft>
                <a:spcPts val="400"/>
              </a:spcAft>
              <a:buClr>
                <a:srgbClr val="FF632B"/>
              </a:buClr>
              <a:buSzPts val="1150"/>
              <a:buFont typeface="Arial"/>
              <a:buChar char="•"/>
            </a:pPr>
            <a:r>
              <a:rPr lang="es" sz="1150" b="1">
                <a:solidFill>
                  <a:srgbClr val="171717"/>
                </a:solidFill>
                <a:latin typeface="Plus Jakarta Sans"/>
                <a:ea typeface="Plus Jakarta Sans"/>
                <a:cs typeface="Plus Jakarta Sans"/>
                <a:sym typeface="Plus Jakarta Sans"/>
              </a:rPr>
              <a:t>Quiénes son: </a:t>
            </a:r>
            <a:r>
              <a:rPr lang="es" sz="1150">
                <a:solidFill>
                  <a:srgbClr val="171717"/>
                </a:solidFill>
                <a:latin typeface="Plus Jakarta Sans Light"/>
                <a:ea typeface="Plus Jakarta Sans Light"/>
                <a:cs typeface="Plus Jakarta Sans Light"/>
                <a:sym typeface="Plus Jakarta Sans Light"/>
              </a:rPr>
              <a:t>ChatGPT, Claude y Gemini son LLMs. Son los modelos que van a vivir dentro de nuestros flujos.</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4000" b="1">
                <a:solidFill>
                  <a:srgbClr val="FF632B"/>
                </a:solidFill>
                <a:latin typeface="Plus Jakarta Sans ExtraBold"/>
                <a:ea typeface="Plus Jakarta Sans ExtraBold"/>
                <a:cs typeface="Plus Jakarta Sans ExtraBold"/>
                <a:sym typeface="Plus Jakarta Sans ExtraBold"/>
              </a:rPr>
              <a:t>¿Qué es un LLM?</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Deep Learning + NLP + casi todo internet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53"/>
          <p:cNvSpPr/>
          <p:nvPr/>
        </p:nvSpPr>
        <p:spPr>
          <a:xfrm>
            <a:off x="0" y="0"/>
            <a:ext cx="9144000" cy="1950900"/>
          </a:xfrm>
          <a:prstGeom prst="rect">
            <a:avLst/>
          </a:prstGeom>
          <a:solidFill>
            <a:srgbClr val="FDAB2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5" name="Google Shape;405;p53"/>
          <p:cNvSpPr txBox="1"/>
          <p:nvPr/>
        </p:nvSpPr>
        <p:spPr>
          <a:xfrm>
            <a:off x="600250" y="656475"/>
            <a:ext cx="8220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Momentos de la Clase:</a:t>
            </a:r>
            <a:endParaRPr sz="5000">
              <a:solidFill>
                <a:srgbClr val="F8F2E8"/>
              </a:solidFill>
              <a:latin typeface="Plus Jakarta Sans"/>
              <a:ea typeface="Plus Jakarta Sans"/>
              <a:cs typeface="Plus Jakarta Sans"/>
              <a:sym typeface="Plus Jakarta Sans"/>
            </a:endParaRPr>
          </a:p>
        </p:txBody>
      </p:sp>
      <p:sp>
        <p:nvSpPr>
          <p:cNvPr id="406" name="Google Shape;406;p53"/>
          <p:cNvSpPr txBox="1"/>
          <p:nvPr/>
        </p:nvSpPr>
        <p:spPr>
          <a:xfrm>
            <a:off x="730900" y="2015944"/>
            <a:ext cx="8220900" cy="293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Actividad colaborativa</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Para pensar</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260700"/>
                </a:solidFill>
                <a:latin typeface="Plus Jakarta Sans ExtraBold"/>
                <a:ea typeface="Plus Jakarta Sans ExtraBold"/>
                <a:cs typeface="Plus Jakarta Sans ExtraBold"/>
                <a:sym typeface="Plus Jakarta Sans ExtraBold"/>
              </a:rPr>
              <a:t>Para recordar</a:t>
            </a:r>
            <a:endParaRPr sz="5000">
              <a:solidFill>
                <a:srgbClr val="260700"/>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Coder Tips</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Material ampliado</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Cuestionario de tarea</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#FindTheBug</a:t>
            </a:r>
            <a:endParaRPr sz="5000">
              <a:solidFill>
                <a:srgbClr val="F8F2E8"/>
              </a:solidFill>
              <a:latin typeface="Plus Jakarta Sans ExtraBold"/>
              <a:ea typeface="Plus Jakarta Sans ExtraBold"/>
              <a:cs typeface="Plus Jakarta Sans ExtraBold"/>
              <a:sym typeface="Plus Jakarta Sans ExtraBold"/>
            </a:endParaRPr>
          </a:p>
        </p:txBody>
      </p:sp>
      <p:sp>
        <p:nvSpPr>
          <p:cNvPr id="407" name="Google Shape;407;p53"/>
          <p:cNvSpPr txBox="1"/>
          <p:nvPr/>
        </p:nvSpPr>
        <p:spPr>
          <a:xfrm>
            <a:off x="6363575" y="2994750"/>
            <a:ext cx="2191200" cy="17562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0"/>
              </a:spcBef>
              <a:spcAft>
                <a:spcPts val="0"/>
              </a:spcAft>
              <a:buNone/>
            </a:pPr>
            <a:r>
              <a:rPr lang="es" sz="1100">
                <a:solidFill>
                  <a:srgbClr val="171717"/>
                </a:solidFill>
                <a:latin typeface="Plus Jakarta Sans Light"/>
                <a:ea typeface="Plus Jakarta Sans Light"/>
                <a:cs typeface="Plus Jakarta Sans Light"/>
                <a:sym typeface="Plus Jakarta Sans Light"/>
              </a:rPr>
              <a:t>El LLM no “entiende” lo que le decimos como lo haría una persona. Leyó tantísimo texto que arma un mapeo matemático complejo y elige la palabra más probable. Simula el comportamiento humano, no lo replica.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7"/>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a:solidFill>
                  <a:srgbClr val="FDAB2E"/>
                </a:solidFill>
                <a:latin typeface="Plus Jakarta Sans ExtraBold"/>
                <a:ea typeface="Plus Jakarta Sans ExtraBold"/>
                <a:cs typeface="Plus Jakarta Sans ExtraBold"/>
                <a:sym typeface="Plus Jakarta Sans ExtraBold"/>
              </a:rPr>
              <a:t>02</a:t>
            </a:r>
            <a:endParaRPr sz="1300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p:cNvSpPr txBox="1"/>
          <p:nvPr/>
        </p:nvSpPr>
        <p:spPr>
          <a:xfrm>
            <a:off x="641650" y="3337375"/>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000">
                <a:solidFill>
                  <a:srgbClr val="F8F2E8"/>
                </a:solidFill>
                <a:latin typeface="Plus Jakarta Sans ExtraBold"/>
                <a:ea typeface="Plus Jakarta Sans ExtraBold"/>
                <a:cs typeface="Plus Jakarta Sans ExtraBold"/>
                <a:sym typeface="Plus Jakarta Sans ExtraBold"/>
              </a:rPr>
              <a:t>Cómo piensa un modelo</a:t>
            </a:r>
            <a:endParaRPr sz="400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La definición: </a:t>
            </a:r>
            <a:r>
              <a:rPr lang="es" sz="1200">
                <a:solidFill>
                  <a:srgbClr val="171717"/>
                </a:solidFill>
                <a:latin typeface="Plus Jakarta Sans Light"/>
                <a:ea typeface="Plus Jakarta Sans Light"/>
                <a:cs typeface="Plus Jakarta Sans Light"/>
                <a:sym typeface="Plus Jakarta Sans Light"/>
              </a:rPr>
              <a:t>es la fase de ejecución donde la red neuronal, ya entrenada, aplica lo aprendido para predecir y generar el siguiente fragmento de texto.</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En criollo: </a:t>
            </a:r>
            <a:r>
              <a:rPr lang="es" sz="1200">
                <a:solidFill>
                  <a:srgbClr val="171717"/>
                </a:solidFill>
                <a:latin typeface="Plus Jakarta Sans Light"/>
                <a:ea typeface="Plus Jakarta Sans Light"/>
                <a:cs typeface="Plus Jakarta Sans Light"/>
                <a:sym typeface="Plus Jakarta Sans Light"/>
              </a:rPr>
              <a:t>el modelo calcula estadísticamente que después de “Buenos” probablemente venga “días”.</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La condición: </a:t>
            </a:r>
            <a:r>
              <a:rPr lang="es" sz="1200">
                <a:solidFill>
                  <a:srgbClr val="171717"/>
                </a:solidFill>
                <a:latin typeface="Plus Jakarta Sans Light"/>
                <a:ea typeface="Plus Jakarta Sans Light"/>
                <a:cs typeface="Plus Jakarta Sans Light"/>
                <a:sym typeface="Plus Jakarta Sans Light"/>
              </a:rPr>
              <a:t>predice basándose estrictamente en el contexto que recibe. Contexto pobre, predicción pobre.</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4000" b="1">
                <a:solidFill>
                  <a:srgbClr val="FF632B"/>
                </a:solidFill>
                <a:latin typeface="Plus Jakarta Sans ExtraBold"/>
                <a:ea typeface="Plus Jakarta Sans ExtraBold"/>
                <a:cs typeface="Plus Jakarta Sans ExtraBold"/>
                <a:sym typeface="Plus Jakarta Sans ExtraBold"/>
              </a:rPr>
              <a:t>La inferencia</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Qué pasa cuando apretás enter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Qué es un token: </a:t>
            </a:r>
            <a:r>
              <a:rPr lang="es" sz="1200">
                <a:solidFill>
                  <a:srgbClr val="171717"/>
                </a:solidFill>
                <a:latin typeface="Plus Jakarta Sans Light"/>
                <a:ea typeface="Plus Jakarta Sans Light"/>
                <a:cs typeface="Plus Jakarta Sans Light"/>
                <a:sym typeface="Plus Jakarta Sans Light"/>
              </a:rPr>
              <a:t>una unidad de texto. Puede ser una palabra entera, una sílaba o incluso una sola letra.</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Quién los arma: </a:t>
            </a:r>
            <a:r>
              <a:rPr lang="es" sz="1200">
                <a:solidFill>
                  <a:srgbClr val="171717"/>
                </a:solidFill>
                <a:latin typeface="Plus Jakarta Sans Light"/>
                <a:ea typeface="Plus Jakarta Sans Light"/>
                <a:cs typeface="Plus Jakarta Sans Light"/>
                <a:sym typeface="Plus Jakarta Sans Light"/>
              </a:rPr>
              <a:t>el tokenizador, un algoritmo de compresión y segmentación de texto.</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Cómo corta: </a:t>
            </a:r>
            <a:r>
              <a:rPr lang="es" sz="1200">
                <a:solidFill>
                  <a:srgbClr val="171717"/>
                </a:solidFill>
                <a:latin typeface="Plus Jakarta Sans Light"/>
                <a:ea typeface="Plus Jakarta Sans Light"/>
                <a:cs typeface="Plus Jakarta Sans Light"/>
                <a:sym typeface="Plus Jakarta Sans Light"/>
              </a:rPr>
              <a:t>los LLM modernos no separan por espacios. Usan algoritmos estadísticos de subpalabras, el más común es BPE (Byte-Pair Encoding).</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La consecuencia: </a:t>
            </a:r>
            <a:r>
              <a:rPr lang="es" sz="1200">
                <a:solidFill>
                  <a:srgbClr val="171717"/>
                </a:solidFill>
                <a:latin typeface="Plus Jakarta Sans Light"/>
                <a:ea typeface="Plus Jakarta Sans Light"/>
                <a:cs typeface="Plus Jakarta Sans Light"/>
                <a:sym typeface="Plus Jakarta Sans Light"/>
              </a:rPr>
              <a:t>cada modelo tokeniza distinto. Por eso no todos los modelos son buenos para todo.</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4000" b="1">
                <a:solidFill>
                  <a:srgbClr val="FF632B"/>
                </a:solidFill>
                <a:latin typeface="Plus Jakarta Sans ExtraBold"/>
                <a:ea typeface="Plus Jakarta Sans ExtraBold"/>
                <a:cs typeface="Plus Jakarta Sans ExtraBold"/>
                <a:sym typeface="Plus Jakarta Sans ExtraBold"/>
              </a:rPr>
              <a:t>Tokens</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El verdadero idioma del modelo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Qué es: </a:t>
            </a:r>
            <a:r>
              <a:rPr lang="es" sz="1200">
                <a:solidFill>
                  <a:srgbClr val="171717"/>
                </a:solidFill>
                <a:latin typeface="Plus Jakarta Sans Light"/>
                <a:ea typeface="Plus Jakarta Sans Light"/>
                <a:cs typeface="Plus Jakarta Sans Light"/>
                <a:sym typeface="Plus Jakarta Sans Light"/>
              </a:rPr>
              <a:t>el límite fijo de tokens que un LLM puede procesar al mismo tiempo.</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No es memoria humana: </a:t>
            </a:r>
            <a:r>
              <a:rPr lang="es" sz="1200">
                <a:solidFill>
                  <a:srgbClr val="171717"/>
                </a:solidFill>
                <a:latin typeface="Plus Jakarta Sans Light"/>
                <a:ea typeface="Plus Jakarta Sans Light"/>
                <a:cs typeface="Plus Jakarta Sans Light"/>
                <a:sym typeface="Plus Jakarta Sans Light"/>
              </a:rPr>
              <a:t>no olvida de a poco. Una vez superado el límite, lo que quedó afuera de la ventana deja de estar disponible.</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La metáfora: </a:t>
            </a:r>
            <a:r>
              <a:rPr lang="es" sz="1200">
                <a:solidFill>
                  <a:srgbClr val="171717"/>
                </a:solidFill>
                <a:latin typeface="Plus Jakarta Sans Light"/>
                <a:ea typeface="Plus Jakarta Sans Light"/>
                <a:cs typeface="Plus Jakarta Sans Light"/>
                <a:sym typeface="Plus Jakarta Sans Light"/>
              </a:rPr>
              <a:t>una hoja de papel de tamaño fijo. Si querés seguir escribiendo y ya no hay espacio, tenés que borrar el principio.</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Por eso escribimos buenos prompts: </a:t>
            </a:r>
            <a:r>
              <a:rPr lang="es" sz="1200">
                <a:solidFill>
                  <a:srgbClr val="171717"/>
                </a:solidFill>
                <a:latin typeface="Plus Jakarta Sans Light"/>
                <a:ea typeface="Plus Jakarta Sans Light"/>
                <a:cs typeface="Plus Jakarta Sans Light"/>
                <a:sym typeface="Plus Jakarta Sans Light"/>
              </a:rPr>
              <a:t>para no gastar contexto ni capacidad de cómputo en información que no aporta.</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3200" b="1">
                <a:solidFill>
                  <a:srgbClr val="FF632B"/>
                </a:solidFill>
                <a:latin typeface="Plus Jakarta Sans ExtraBold"/>
                <a:ea typeface="Plus Jakarta Sans ExtraBold"/>
                <a:cs typeface="Plus Jakarta Sans ExtraBold"/>
                <a:sym typeface="Plus Jakarta Sans ExtraBold"/>
              </a:rPr>
              <a:t>Ventana de contexto</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Lo que el modelo puede tener en mente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1"/>
          <p:cNvSpPr txBox="1"/>
          <p:nvPr/>
        </p:nvSpPr>
        <p:spPr>
          <a:xfrm>
            <a:off x="739075" y="2866306"/>
            <a:ext cx="7815600" cy="274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s" sz="1200">
                <a:solidFill>
                  <a:srgbClr val="FFFFFF"/>
                </a:solidFill>
                <a:latin typeface="Plus Jakarta Sans Light"/>
                <a:ea typeface="Plus Jakarta Sans Light"/>
                <a:cs typeface="Plus Jakarta Sans Light"/>
                <a:sym typeface="Plus Jakarta Sans Light"/>
              </a:rPr>
              <a:t>Todo lo que hacemos hoy sale de entender eso.</a:t>
            </a:r>
          </a:p>
        </p:txBody>
      </p:sp>
      <p:sp>
        <p:nvSpPr>
          <p:cNvPr id="263" name="Google Shape;263;p41"/>
          <p:cNvSpPr txBox="1"/>
          <p:nvPr/>
        </p:nvSpPr>
        <p:spPr>
          <a:xfrm>
            <a:off x="1415425" y="1727506"/>
            <a:ext cx="6462900" cy="1138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s" sz="4000">
                <a:solidFill>
                  <a:srgbClr val="FFFFFF"/>
                </a:solidFill>
                <a:latin typeface="Plus Jakarta Sans ExtraBold"/>
                <a:ea typeface="Plus Jakarta Sans ExtraBold"/>
                <a:cs typeface="Plus Jakarta Sans ExtraBold"/>
                <a:sym typeface="Plus Jakarta Sans ExtraBold"/>
              </a:rPr>
              <a:t>La IA no piensa: predice.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Qué son: </a:t>
            </a:r>
            <a:r>
              <a:rPr lang="es" sz="1200">
                <a:solidFill>
                  <a:srgbClr val="171717"/>
                </a:solidFill>
                <a:latin typeface="Plus Jakarta Sans Light"/>
                <a:ea typeface="Plus Jakarta Sans Light"/>
                <a:cs typeface="Plus Jakarta Sans Light"/>
                <a:sym typeface="Plus Jakarta Sans Light"/>
              </a:rPr>
              <a:t>el modelo genera información falsa, inventada o sin sentido, pero la presenta como si fuera una verdad absoluta.</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Por qué pasan: </a:t>
            </a:r>
            <a:r>
              <a:rPr lang="es" sz="1200">
                <a:solidFill>
                  <a:srgbClr val="171717"/>
                </a:solidFill>
                <a:latin typeface="Plus Jakarta Sans Light"/>
                <a:ea typeface="Plus Jakarta Sans Light"/>
                <a:cs typeface="Plus Jakarta Sans Light"/>
                <a:sym typeface="Plus Jakarta Sans Light"/>
              </a:rPr>
              <a:t>si perdió información clave porque ya no entra en la ventana de contexto, en vez de decir “no tengo ese dato” completa el vacío con algo plausible.</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También pasan: </a:t>
            </a:r>
            <a:r>
              <a:rPr lang="es" sz="1200">
                <a:solidFill>
                  <a:srgbClr val="171717"/>
                </a:solidFill>
                <a:latin typeface="Plus Jakarta Sans Light"/>
                <a:ea typeface="Plus Jakarta Sans Light"/>
                <a:cs typeface="Plus Jakarta Sans Light"/>
                <a:sym typeface="Plus Jakarta Sans Light"/>
              </a:rPr>
              <a:t>cuando directamente nunca le dimos esa información.</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El riesgo en automatización: </a:t>
            </a:r>
            <a:r>
              <a:rPr lang="es" sz="1200">
                <a:solidFill>
                  <a:srgbClr val="171717"/>
                </a:solidFill>
                <a:latin typeface="Plus Jakarta Sans Light"/>
                <a:ea typeface="Plus Jakarta Sans Light"/>
                <a:cs typeface="Plus Jakarta Sans Light"/>
                <a:sym typeface="Plus Jakarta Sans Light"/>
              </a:rPr>
              <a:t>nadie está mirando la pantalla. El dato inventado sigue viaje hasta tu base de datos.</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4000" b="1">
                <a:solidFill>
                  <a:srgbClr val="FF632B"/>
                </a:solidFill>
                <a:latin typeface="Plus Jakarta Sans ExtraBold"/>
                <a:ea typeface="Plus Jakarta Sans ExtraBold"/>
                <a:cs typeface="Plus Jakarta Sans ExtraBold"/>
                <a:sym typeface="Plus Jakarta Sans ExtraBold"/>
              </a:rPr>
              <a:t>Alucinaciones</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Cuando el modelo inventa con seguridad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2"/>
          <p:cNvSpPr/>
          <p:nvPr/>
        </p:nvSpPr>
        <p:spPr>
          <a:xfrm>
            <a:off x="0" y="0"/>
            <a:ext cx="9144000" cy="1950900"/>
          </a:xfrm>
          <a:prstGeom prst="rect">
            <a:avLst/>
          </a:prstGeom>
          <a:solidFill>
            <a:srgbClr val="FDAB2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 name="Google Shape;397;p52"/>
          <p:cNvSpPr txBox="1"/>
          <p:nvPr/>
        </p:nvSpPr>
        <p:spPr>
          <a:xfrm>
            <a:off x="600250" y="656475"/>
            <a:ext cx="8220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Momentos de la Clase:</a:t>
            </a:r>
            <a:endParaRPr sz="5000">
              <a:solidFill>
                <a:srgbClr val="F8F2E8"/>
              </a:solidFill>
              <a:latin typeface="Plus Jakarta Sans"/>
              <a:ea typeface="Plus Jakarta Sans"/>
              <a:cs typeface="Plus Jakarta Sans"/>
              <a:sym typeface="Plus Jakarta Sans"/>
            </a:endParaRPr>
          </a:p>
        </p:txBody>
      </p:sp>
      <p:sp>
        <p:nvSpPr>
          <p:cNvPr id="398" name="Google Shape;398;p52"/>
          <p:cNvSpPr txBox="1"/>
          <p:nvPr/>
        </p:nvSpPr>
        <p:spPr>
          <a:xfrm>
            <a:off x="730900" y="2015917"/>
            <a:ext cx="8220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Actividad colaborativa</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260700"/>
                </a:solidFill>
                <a:latin typeface="Plus Jakarta Sans ExtraBold"/>
                <a:ea typeface="Plus Jakarta Sans ExtraBold"/>
                <a:cs typeface="Plus Jakarta Sans ExtraBold"/>
                <a:sym typeface="Plus Jakarta Sans ExtraBold"/>
              </a:rPr>
              <a:t>Para pensar</a:t>
            </a:r>
            <a:endParaRPr sz="5000">
              <a:solidFill>
                <a:srgbClr val="260700"/>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Para recordar</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Coder Tips</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Material ampliado</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Cuestionario de tarea</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#FindTheBug</a:t>
            </a:r>
            <a:endParaRPr sz="5000">
              <a:solidFill>
                <a:srgbClr val="F8F2E8"/>
              </a:solidFill>
              <a:latin typeface="Plus Jakarta Sans ExtraBold"/>
              <a:ea typeface="Plus Jakarta Sans ExtraBold"/>
              <a:cs typeface="Plus Jakarta Sans ExtraBold"/>
              <a:sym typeface="Plus Jakarta Sans ExtraBold"/>
            </a:endParaRPr>
          </a:p>
        </p:txBody>
      </p:sp>
      <p:sp>
        <p:nvSpPr>
          <p:cNvPr id="399" name="Google Shape;399;p52"/>
          <p:cNvSpPr txBox="1"/>
          <p:nvPr/>
        </p:nvSpPr>
        <p:spPr>
          <a:xfrm>
            <a:off x="6363575" y="2481425"/>
            <a:ext cx="2457600" cy="22695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0"/>
              </a:spcBef>
              <a:spcAft>
                <a:spcPts val="0"/>
              </a:spcAft>
              <a:buNone/>
            </a:pPr>
            <a:r>
              <a:rPr lang="es" sz="1100">
                <a:solidFill>
                  <a:srgbClr val="171717"/>
                </a:solidFill>
                <a:latin typeface="Plus Jakarta Sans Light"/>
                <a:ea typeface="Plus Jakarta Sans Light"/>
                <a:cs typeface="Plus Jakarta Sans Light"/>
                <a:sym typeface="Plus Jakarta Sans Light"/>
              </a:rPr>
              <a:t>Pensá en el estudiante que va a un examen sin haber estudiado: en lugar de decir “no sé”, arma una respuesta larguísima, sofisticada y segurísima. ¿Cuál es la alucinación más loca que te dio una IA hasta hoy?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6"/>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a:solidFill>
                  <a:srgbClr val="FF632B"/>
                </a:solidFill>
                <a:latin typeface="Plus Jakarta Sans ExtraBold"/>
                <a:ea typeface="Plus Jakarta Sans ExtraBold"/>
                <a:cs typeface="Plus Jakarta Sans ExtraBold"/>
                <a:sym typeface="Plus Jakarta Sans ExtraBold"/>
              </a:rPr>
              <a:t>03</a:t>
            </a:r>
            <a:endParaRPr sz="13000">
              <a:solidFill>
                <a:srgbClr val="FF632B"/>
              </a:solidFill>
              <a:latin typeface="Plus Jakarta Sans ExtraBold"/>
              <a:ea typeface="Plus Jakarta Sans ExtraBold"/>
              <a:cs typeface="Plus Jakarta Sans ExtraBold"/>
              <a:sym typeface="Plus Jakarta Sans ExtraBold"/>
            </a:endParaRPr>
          </a:p>
        </p:txBody>
      </p:sp>
      <p:sp>
        <p:nvSpPr>
          <p:cNvPr id="230" name="Google Shape;230;p36"/>
          <p:cNvSpPr txBox="1"/>
          <p:nvPr/>
        </p:nvSpPr>
        <p:spPr>
          <a:xfrm>
            <a:off x="641650" y="3337375"/>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000">
                <a:solidFill>
                  <a:srgbClr val="F8F2E8"/>
                </a:solidFill>
                <a:latin typeface="Plus Jakarta Sans ExtraBold"/>
                <a:ea typeface="Plus Jakarta Sans ExtraBold"/>
                <a:cs typeface="Plus Jakarta Sans ExtraBold"/>
                <a:sym typeface="Plus Jakarta Sans ExtraBold"/>
              </a:rPr>
              <a:t>Prompt Engineering</a:t>
            </a:r>
            <a:endParaRPr sz="400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400"/>
              </a:spcAft>
              <a:buClr>
                <a:srgbClr val="FF632B"/>
              </a:buClr>
              <a:buSzPts val="1150"/>
              <a:buFont typeface="Arial"/>
              <a:buChar char="•"/>
            </a:pPr>
            <a:r>
              <a:rPr lang="es" sz="1150" b="1">
                <a:solidFill>
                  <a:srgbClr val="171717"/>
                </a:solidFill>
                <a:latin typeface="Plus Jakarta Sans"/>
                <a:ea typeface="Plus Jakarta Sans"/>
                <a:cs typeface="Plus Jakarta Sans"/>
                <a:sym typeface="Plus Jakarta Sans"/>
              </a:rPr>
              <a:t>La práctica: </a:t>
            </a:r>
            <a:r>
              <a:rPr lang="es" sz="1150">
                <a:solidFill>
                  <a:srgbClr val="171717"/>
                </a:solidFill>
                <a:latin typeface="Plus Jakarta Sans Light"/>
                <a:ea typeface="Plus Jakarta Sans Light"/>
                <a:cs typeface="Plus Jakarta Sans Light"/>
                <a:sym typeface="Plus Jakarta Sans Light"/>
              </a:rPr>
              <a:t>crear de forma meticulosa las instrucciones o preguntas que le hacemos a un modelo, para obtener respuestas precisas y alineadas con lo que pedimos.</a:t>
            </a:r>
          </a:p>
          <a:p>
            <a:pPr marL="285750" lvl="0" indent="-285750" algn="l" rtl="0">
              <a:lnSpc>
                <a:spcPct val="115000"/>
              </a:lnSpc>
              <a:spcBef>
                <a:spcPts val="0"/>
              </a:spcBef>
              <a:spcAft>
                <a:spcPts val="400"/>
              </a:spcAft>
              <a:buClr>
                <a:srgbClr val="FF632B"/>
              </a:buClr>
              <a:buSzPts val="1150"/>
              <a:buFont typeface="Arial"/>
              <a:buChar char="•"/>
            </a:pPr>
            <a:r>
              <a:rPr lang="es" sz="1150" b="1">
                <a:solidFill>
                  <a:srgbClr val="171717"/>
                </a:solidFill>
                <a:latin typeface="Plus Jakarta Sans"/>
                <a:ea typeface="Plus Jakarta Sans"/>
                <a:cs typeface="Plus Jakarta Sans"/>
                <a:sym typeface="Plus Jakarta Sans"/>
              </a:rPr>
              <a:t>El prompt: </a:t>
            </a:r>
            <a:r>
              <a:rPr lang="es" sz="1150">
                <a:solidFill>
                  <a:srgbClr val="171717"/>
                </a:solidFill>
                <a:latin typeface="Plus Jakarta Sans Light"/>
                <a:ea typeface="Plus Jakarta Sans Light"/>
                <a:cs typeface="Plus Jakarta Sans Light"/>
                <a:sym typeface="Plus Jakarta Sans Light"/>
              </a:rPr>
              <a:t>es el puente de comunicación entre nosotros y la IA.</a:t>
            </a:r>
          </a:p>
          <a:p>
            <a:pPr marL="285750" lvl="0" indent="-285750" algn="l" rtl="0">
              <a:lnSpc>
                <a:spcPct val="115000"/>
              </a:lnSpc>
              <a:spcBef>
                <a:spcPts val="0"/>
              </a:spcBef>
              <a:spcAft>
                <a:spcPts val="400"/>
              </a:spcAft>
              <a:buClr>
                <a:srgbClr val="FF632B"/>
              </a:buClr>
              <a:buSzPts val="1150"/>
              <a:buFont typeface="Arial"/>
              <a:buChar char="•"/>
            </a:pPr>
            <a:r>
              <a:rPr lang="es" sz="1150" b="1">
                <a:solidFill>
                  <a:srgbClr val="171717"/>
                </a:solidFill>
                <a:latin typeface="Plus Jakarta Sans"/>
                <a:ea typeface="Plus Jakarta Sans"/>
                <a:cs typeface="Plus Jakarta Sans"/>
                <a:sym typeface="Plus Jakarta Sans"/>
              </a:rPr>
              <a:t>Si el prompt es malo: </a:t>
            </a:r>
            <a:r>
              <a:rPr lang="es" sz="1150">
                <a:solidFill>
                  <a:srgbClr val="171717"/>
                </a:solidFill>
                <a:latin typeface="Plus Jakarta Sans Light"/>
                <a:ea typeface="Plus Jakarta Sans Light"/>
                <a:cs typeface="Plus Jakarta Sans Light"/>
                <a:sym typeface="Plus Jakarta Sans Light"/>
              </a:rPr>
              <a:t>la IA no comprende bien la instrucción y lo que devuelve no es lo que pediste. O lo es, pero de forma ineficiente.</a:t>
            </a:r>
          </a:p>
          <a:p>
            <a:pPr marL="285750" lvl="0" indent="-285750" algn="l" rtl="0">
              <a:lnSpc>
                <a:spcPct val="115000"/>
              </a:lnSpc>
              <a:spcBef>
                <a:spcPts val="0"/>
              </a:spcBef>
              <a:spcAft>
                <a:spcPts val="400"/>
              </a:spcAft>
              <a:buClr>
                <a:srgbClr val="FF632B"/>
              </a:buClr>
              <a:buSzPts val="1150"/>
              <a:buFont typeface="Arial"/>
              <a:buChar char="•"/>
            </a:pPr>
            <a:r>
              <a:rPr lang="es" sz="1150" b="1">
                <a:solidFill>
                  <a:srgbClr val="171717"/>
                </a:solidFill>
                <a:latin typeface="Plus Jakarta Sans"/>
                <a:ea typeface="Plus Jakarta Sans"/>
                <a:cs typeface="Plus Jakarta Sans"/>
                <a:sym typeface="Plus Jakarta Sans"/>
              </a:rPr>
              <a:t>El ejemplo de siempre: </a:t>
            </a:r>
            <a:r>
              <a:rPr lang="es" sz="1150">
                <a:solidFill>
                  <a:srgbClr val="171717"/>
                </a:solidFill>
                <a:latin typeface="Plus Jakarta Sans Light"/>
                <a:ea typeface="Plus Jakarta Sans Light"/>
                <a:cs typeface="Plus Jakarta Sans Light"/>
                <a:sym typeface="Plus Jakarta Sans Light"/>
              </a:rPr>
              <a:t>“armame una rutina para el gym” devuelve algo genérico. Especificá grupo muscular, intensidad y días y cambia todo.</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4000" b="1">
                <a:solidFill>
                  <a:srgbClr val="FF632B"/>
                </a:solidFill>
                <a:latin typeface="Plus Jakarta Sans ExtraBold"/>
                <a:ea typeface="Plus Jakarta Sans ExtraBold"/>
                <a:cs typeface="Plus Jakarta Sans ExtraBold"/>
                <a:sym typeface="Plus Jakarta Sans ExtraBold"/>
              </a:rPr>
              <a:t>Prompt Engineering</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Diseñar la instrucción, no sólo preguntar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Persona: </a:t>
            </a:r>
            <a:r>
              <a:rPr lang="es" sz="1200">
                <a:solidFill>
                  <a:srgbClr val="171717"/>
                </a:solidFill>
                <a:latin typeface="Plus Jakarta Sans Light"/>
                <a:ea typeface="Plus Jakarta Sans Light"/>
                <a:cs typeface="Plus Jakarta Sans Light"/>
                <a:sym typeface="Plus Jakarta Sans Light"/>
              </a:rPr>
              <a:t>quién es la IA en esta tarea. “Sos un analista de datos de una agencia de viajes”.</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Contexto: </a:t>
            </a:r>
            <a:r>
              <a:rPr lang="es" sz="1200">
                <a:solidFill>
                  <a:srgbClr val="171717"/>
                </a:solidFill>
                <a:latin typeface="Plus Jakarta Sans Light"/>
                <a:ea typeface="Plus Jakarta Sans Light"/>
                <a:cs typeface="Plus Jakarta Sans Light"/>
                <a:sym typeface="Plus Jakarta Sans Light"/>
              </a:rPr>
              <a:t>el material con el que tiene que trabajar y las restricciones que le imponemos.</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Tarea: </a:t>
            </a:r>
            <a:r>
              <a:rPr lang="es" sz="1200">
                <a:solidFill>
                  <a:srgbClr val="171717"/>
                </a:solidFill>
                <a:latin typeface="Plus Jakarta Sans Light"/>
                <a:ea typeface="Plus Jakarta Sans Light"/>
                <a:cs typeface="Plus Jakarta Sans Light"/>
                <a:sym typeface="Plus Jakarta Sans Light"/>
              </a:rPr>
              <a:t>qué tiene que hacer, en una instrucción explícita.</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Formato: </a:t>
            </a:r>
            <a:r>
              <a:rPr lang="es" sz="1200">
                <a:solidFill>
                  <a:srgbClr val="171717"/>
                </a:solidFill>
                <a:latin typeface="Plus Jakarta Sans Light"/>
                <a:ea typeface="Plus Jakarta Sans Light"/>
                <a:cs typeface="Plus Jakarta Sans Light"/>
                <a:sym typeface="Plus Jakarta Sans Light"/>
              </a:rPr>
              <a:t>cómo tiene que devolverlo. Lista, tabla o un JSON con estas llaves.</a:t>
            </a:r>
          </a:p>
          <a:p>
            <a:pPr marL="0" lvl="0" indent="0" algn="l" rtl="0">
              <a:lnSpc>
                <a:spcPct val="115000"/>
              </a:lnSpc>
              <a:spcBef>
                <a:spcPts val="0"/>
              </a:spcBef>
              <a:spcAft>
                <a:spcPts val="0"/>
              </a:spcAft>
              <a:buNone/>
            </a:pPr>
            <a:r>
              <a:rPr lang="es" sz="1150" b="1">
                <a:solidFill>
                  <a:srgbClr val="FF632B"/>
                </a:solidFill>
                <a:latin typeface="Plus Jakarta Sans"/>
                <a:ea typeface="Plus Jakarta Sans"/>
                <a:cs typeface="Plus Jakarta Sans"/>
                <a:sym typeface="Plus Jakarta Sans"/>
              </a:rPr>
              <a:t>La IA no sabe lo que querés: es un predictor de texto y necesita instrucciones explícitas.</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3200" b="1">
                <a:solidFill>
                  <a:srgbClr val="FF632B"/>
                </a:solidFill>
                <a:latin typeface="Plus Jakarta Sans ExtraBold"/>
                <a:ea typeface="Plus Jakarta Sans ExtraBold"/>
                <a:cs typeface="Plus Jakarta Sans ExtraBold"/>
                <a:sym typeface="Plus Jakarta Sans ExtraBold"/>
              </a:rPr>
              <a:t>Anatomía del prompt</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De la instrucción suelta a la estructura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4"/>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a:solidFill>
                  <a:srgbClr val="FF632B"/>
                </a:solidFill>
                <a:latin typeface="Plus Jakarta Sans ExtraBold"/>
                <a:ea typeface="Plus Jakarta Sans ExtraBold"/>
                <a:cs typeface="Plus Jakarta Sans ExtraBold"/>
                <a:sym typeface="Plus Jakarta Sans ExtraBold"/>
              </a:rPr>
              <a:t>Técnicas/ </a:t>
            </a:r>
            <a:r>
              <a:rPr lang="es" sz="2400">
                <a:solidFill>
                  <a:srgbClr val="260700"/>
                </a:solidFill>
                <a:latin typeface="Plus Jakarta Sans"/>
                <a:ea typeface="Plus Jakarta Sans"/>
                <a:cs typeface="Plus Jakarta Sans"/>
                <a:sym typeface="Plus Jakarta Sans"/>
              </a:rPr>
              <a:t>las tres de hoy</a:t>
            </a:r>
            <a:endParaRPr sz="2400">
              <a:solidFill>
                <a:srgbClr val="260700"/>
              </a:solidFill>
              <a:latin typeface="Plus Jakarta Sans"/>
              <a:ea typeface="Plus Jakarta Sans"/>
              <a:cs typeface="Plus Jakarta Sans"/>
              <a:sym typeface="Plus Jakarta Sans"/>
            </a:endParaRPr>
          </a:p>
        </p:txBody>
      </p:sp>
      <p:sp>
        <p:nvSpPr>
          <p:cNvPr id="290" name="Google Shape;290;p44"/>
          <p:cNvSpPr/>
          <p:nvPr/>
        </p:nvSpPr>
        <p:spPr>
          <a:xfrm>
            <a:off x="667475" y="1641200"/>
            <a:ext cx="3942300" cy="2081100"/>
          </a:xfrm>
          <a:prstGeom prst="roundRect">
            <a:avLst>
              <a:gd name="adj" fmla="val 16667"/>
            </a:avLst>
          </a:prstGeom>
          <a:solidFill>
            <a:srgbClr val="F8F2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300"/>
              </a:spcAft>
              <a:buNone/>
            </a:pPr>
            <a:r>
              <a:rPr lang="es" sz="1800" b="1">
                <a:solidFill>
                  <a:srgbClr val="FF632B"/>
                </a:solidFill>
                <a:latin typeface="Plus Jakarta Sans ExtraBold"/>
                <a:ea typeface="Plus Jakarta Sans ExtraBold"/>
                <a:cs typeface="Plus Jakarta Sans ExtraBold"/>
                <a:sym typeface="Plus Jakarta Sans ExtraBold"/>
              </a:rPr>
              <a:t>Zero-shot</a:t>
            </a:r>
          </a:p>
          <a:p>
            <a:pPr marL="0" lvl="0" indent="0" algn="ctr" rtl="0">
              <a:lnSpc>
                <a:spcPct val="115000"/>
              </a:lnSpc>
              <a:spcBef>
                <a:spcPts val="0"/>
              </a:spcBef>
              <a:spcAft>
                <a:spcPts val="0"/>
              </a:spcAft>
              <a:buNone/>
            </a:pPr>
            <a:r>
              <a:rPr lang="es" sz="1150">
                <a:solidFill>
                  <a:srgbClr val="171717"/>
                </a:solidFill>
                <a:latin typeface="Plus Jakarta Sans Light"/>
                <a:ea typeface="Plus Jakarta Sans Light"/>
                <a:cs typeface="Plus Jakarta Sans Light"/>
                <a:sym typeface="Plus Jakarta Sans Light"/>
              </a:rPr>
              <a:t>Le pedimos la tarea sin darle ningún ejemplo previo. Sirve para cosas genéricas, pero el resultado puede salir impredecible o con un formato que no nos sirve.</a:t>
            </a:r>
          </a:p>
        </p:txBody>
      </p:sp>
      <p:sp>
        <p:nvSpPr>
          <p:cNvPr id="291" name="Google Shape;291;p44"/>
          <p:cNvSpPr/>
          <p:nvPr/>
        </p:nvSpPr>
        <p:spPr>
          <a:xfrm>
            <a:off x="4766370" y="1641200"/>
            <a:ext cx="3942300" cy="2081100"/>
          </a:xfrm>
          <a:prstGeom prst="roundRect">
            <a:avLst>
              <a:gd name="adj" fmla="val 16667"/>
            </a:avLst>
          </a:prstGeom>
          <a:solidFill>
            <a:srgbClr val="F8F2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300"/>
              </a:spcAft>
              <a:buNone/>
            </a:pPr>
            <a:r>
              <a:rPr lang="es" sz="1800" b="1">
                <a:solidFill>
                  <a:srgbClr val="FF632B"/>
                </a:solidFill>
                <a:latin typeface="Plus Jakarta Sans ExtraBold"/>
                <a:ea typeface="Plus Jakarta Sans ExtraBold"/>
                <a:cs typeface="Plus Jakarta Sans ExtraBold"/>
                <a:sym typeface="Plus Jakarta Sans ExtraBold"/>
              </a:rPr>
              <a:t>Few-shot</a:t>
            </a:r>
          </a:p>
          <a:p>
            <a:pPr marL="0" lvl="0" indent="0" algn="ctr" rtl="0">
              <a:lnSpc>
                <a:spcPct val="115000"/>
              </a:lnSpc>
              <a:spcBef>
                <a:spcPts val="0"/>
              </a:spcBef>
              <a:spcAft>
                <a:spcPts val="0"/>
              </a:spcAft>
              <a:buNone/>
            </a:pPr>
            <a:r>
              <a:rPr lang="es" sz="1150">
                <a:solidFill>
                  <a:srgbClr val="171717"/>
                </a:solidFill>
                <a:latin typeface="Plus Jakarta Sans Light"/>
                <a:ea typeface="Plus Jakarta Sans Light"/>
                <a:cs typeface="Plus Jakarta Sans Light"/>
                <a:sym typeface="Plus Jakarta Sans Light"/>
              </a:rPr>
              <a:t>Le enseñamos con dos o tres ejemplos dentro del mismo prompt. Copia el tono y la estructura sin que le expliquemos las reglas.</a:t>
            </a:r>
          </a:p>
        </p:txBody>
      </p:sp>
      <p:sp>
        <p:nvSpPr>
          <p:cNvPr id="292" name="Google Shape;292;p44"/>
          <p:cNvSpPr/>
          <p:nvPr/>
        </p:nvSpPr>
        <p:spPr>
          <a:xfrm>
            <a:off x="667475" y="3866726"/>
            <a:ext cx="8041200" cy="840300"/>
          </a:xfrm>
          <a:prstGeom prst="roundRect">
            <a:avLst>
              <a:gd name="adj" fmla="val 30840"/>
            </a:avLst>
          </a:prstGeom>
          <a:solidFill>
            <a:srgbClr val="F8F2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s" sz="1300" b="1">
                <a:solidFill>
                  <a:srgbClr val="FF632B"/>
                </a:solidFill>
                <a:latin typeface="Plus Jakarta Sans ExtraBold"/>
                <a:ea typeface="Plus Jakarta Sans ExtraBold"/>
                <a:cs typeface="Plus Jakarta Sans ExtraBold"/>
                <a:sym typeface="Plus Jakarta Sans ExtraBold"/>
              </a:rPr>
              <a:t>Chain of Thought: </a:t>
            </a:r>
            <a:r>
              <a:rPr lang="es" sz="1300">
                <a:solidFill>
                  <a:srgbClr val="171717"/>
                </a:solidFill>
                <a:latin typeface="Plus Jakarta Sans Light"/>
                <a:ea typeface="Plus Jakarta Sans Light"/>
                <a:cs typeface="Plus Jakarta Sans Light"/>
                <a:sym typeface="Plus Jakarta Sans Light"/>
              </a:rPr>
              <a:t>la obligamos a razonar paso a paso antes de responder. Nuestra herramienta contra las alucinaciones.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El problema: </a:t>
            </a:r>
            <a:r>
              <a:rPr lang="es" sz="1200">
                <a:solidFill>
                  <a:srgbClr val="171717"/>
                </a:solidFill>
                <a:latin typeface="Plus Jakarta Sans Light"/>
                <a:ea typeface="Plus Jakarta Sans Light"/>
                <a:cs typeface="Plus Jakarta Sans Light"/>
                <a:sym typeface="Plus Jakarta Sans Light"/>
              </a:rPr>
              <a:t>si la IA responde “Acá tenés tu respuesta, amigo”, ninguna automatización puede usar eso.</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Lo que necesitamos: </a:t>
            </a:r>
            <a:r>
              <a:rPr lang="es" sz="1200">
                <a:solidFill>
                  <a:srgbClr val="171717"/>
                </a:solidFill>
                <a:latin typeface="Plus Jakarta Sans Light"/>
                <a:ea typeface="Plus Jakarta Sans Light"/>
                <a:cs typeface="Plus Jakarta Sans Light"/>
                <a:sym typeface="Plus Jakarta Sans Light"/>
              </a:rPr>
              <a:t>un objeto JSON válido, sin una sola letra de texto alrededor.</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Cómo se pide: </a:t>
            </a:r>
            <a:r>
              <a:rPr lang="es" sz="1200">
                <a:solidFill>
                  <a:srgbClr val="171717"/>
                </a:solidFill>
                <a:latin typeface="Plus Jakarta Sans Light"/>
                <a:ea typeface="Plus Jakarta Sans Light"/>
                <a:cs typeface="Plus Jakarta Sans Light"/>
                <a:sym typeface="Plus Jakarta Sans Light"/>
              </a:rPr>
              <a:t>declarando las llaves del objeto dentro del prompt y prohibiendo explícitamente cualquier texto extra.</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Para qué: </a:t>
            </a:r>
            <a:r>
              <a:rPr lang="es" sz="1200">
                <a:solidFill>
                  <a:srgbClr val="171717"/>
                </a:solidFill>
                <a:latin typeface="Plus Jakarta Sans Light"/>
                <a:ea typeface="Plus Jakarta Sans Light"/>
                <a:cs typeface="Plus Jakarta Sans Light"/>
                <a:sym typeface="Plus Jakarta Sans Light"/>
              </a:rPr>
              <a:t>para que el dato entre derecho a una planilla, a una base o al próximo nodo del flujo.</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4000" b="1">
                <a:solidFill>
                  <a:srgbClr val="FF632B"/>
                </a:solidFill>
                <a:latin typeface="Plus Jakarta Sans ExtraBold"/>
                <a:ea typeface="Plus Jakarta Sans ExtraBold"/>
                <a:cs typeface="Plus Jakarta Sans ExtraBold"/>
                <a:sym typeface="Plus Jakarta Sans ExtraBold"/>
              </a:rPr>
              <a:t>Salida en JSON</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El puente entre la IA y la automatización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54"/>
          <p:cNvSpPr/>
          <p:nvPr/>
        </p:nvSpPr>
        <p:spPr>
          <a:xfrm>
            <a:off x="0" y="0"/>
            <a:ext cx="9144000" cy="1950900"/>
          </a:xfrm>
          <a:prstGeom prst="rect">
            <a:avLst/>
          </a:prstGeom>
          <a:solidFill>
            <a:srgbClr val="FDAB2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3" name="Google Shape;413;p54"/>
          <p:cNvSpPr txBox="1"/>
          <p:nvPr/>
        </p:nvSpPr>
        <p:spPr>
          <a:xfrm>
            <a:off x="600250" y="656475"/>
            <a:ext cx="8220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Momentos de la Clase:</a:t>
            </a:r>
            <a:endParaRPr sz="5000">
              <a:solidFill>
                <a:srgbClr val="F8F2E8"/>
              </a:solidFill>
              <a:latin typeface="Plus Jakarta Sans"/>
              <a:ea typeface="Plus Jakarta Sans"/>
              <a:cs typeface="Plus Jakarta Sans"/>
              <a:sym typeface="Plus Jakarta Sans"/>
            </a:endParaRPr>
          </a:p>
        </p:txBody>
      </p:sp>
      <p:sp>
        <p:nvSpPr>
          <p:cNvPr id="414" name="Google Shape;414;p54"/>
          <p:cNvSpPr txBox="1"/>
          <p:nvPr/>
        </p:nvSpPr>
        <p:spPr>
          <a:xfrm>
            <a:off x="730900" y="2015917"/>
            <a:ext cx="8220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Para recordar</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260700"/>
                </a:solidFill>
                <a:latin typeface="Plus Jakarta Sans ExtraBold"/>
                <a:ea typeface="Plus Jakarta Sans ExtraBold"/>
                <a:cs typeface="Plus Jakarta Sans ExtraBold"/>
                <a:sym typeface="Plus Jakarta Sans ExtraBold"/>
              </a:rPr>
              <a:t>Coder Tips</a:t>
            </a:r>
            <a:endParaRPr sz="5000">
              <a:solidFill>
                <a:srgbClr val="260700"/>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Material ampliado</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Cuestionario de tarea</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#FindTheBug</a:t>
            </a:r>
            <a:endParaRPr sz="5000">
              <a:solidFill>
                <a:srgbClr val="F8F2E8"/>
              </a:solidFill>
              <a:latin typeface="Plus Jakarta Sans ExtraBold"/>
              <a:ea typeface="Plus Jakarta Sans ExtraBold"/>
              <a:cs typeface="Plus Jakarta Sans ExtraBold"/>
              <a:sym typeface="Plus Jakarta Sans ExtraBold"/>
            </a:endParaRPr>
          </a:p>
        </p:txBody>
      </p:sp>
      <p:sp>
        <p:nvSpPr>
          <p:cNvPr id="415" name="Google Shape;415;p54"/>
          <p:cNvSpPr txBox="1"/>
          <p:nvPr/>
        </p:nvSpPr>
        <p:spPr>
          <a:xfrm>
            <a:off x="6363575" y="2481425"/>
            <a:ext cx="2191200" cy="22695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0"/>
              </a:spcBef>
              <a:spcAft>
                <a:spcPts val="0"/>
              </a:spcAft>
              <a:buNone/>
            </a:pPr>
            <a:r>
              <a:rPr lang="es" sz="1100">
                <a:solidFill>
                  <a:srgbClr val="171717"/>
                </a:solidFill>
                <a:latin typeface="Plus Jakarta Sans Light"/>
                <a:ea typeface="Plus Jakarta Sans Light"/>
                <a:cs typeface="Plus Jakarta Sans Light"/>
                <a:sym typeface="Plus Jakarta Sans Light"/>
              </a:rPr>
              <a:t>Envolvé el dato entre ### o comillas triples: la IA entiende dónde empieza y dónde termina. No es la longitud del prompt lo que mejora la respuesta, son la claridad, el orden, los delimitadores y los ejemplos.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60"/>
          <p:cNvSpPr txBox="1"/>
          <p:nvPr/>
        </p:nvSpPr>
        <p:spPr>
          <a:xfrm>
            <a:off x="652525" y="1336525"/>
            <a:ext cx="6254700" cy="24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6000">
                <a:solidFill>
                  <a:srgbClr val="F8F2E8"/>
                </a:solidFill>
                <a:latin typeface="Plus Jakarta Sans ExtraBold"/>
                <a:ea typeface="Plus Jakarta Sans ExtraBold"/>
                <a:cs typeface="Plus Jakarta Sans ExtraBold"/>
                <a:sym typeface="Plus Jakarta Sans ExtraBold"/>
              </a:rPr>
              <a:t>Break,</a:t>
            </a:r>
            <a:endParaRPr sz="6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endParaRPr sz="28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2400">
                <a:solidFill>
                  <a:srgbClr val="F8F2E8"/>
                </a:solidFill>
                <a:latin typeface="Plus Jakarta Sans"/>
                <a:ea typeface="Plus Jakarta Sans"/>
                <a:cs typeface="Plus Jakarta Sans"/>
                <a:sym typeface="Plus Jakarta Sans"/>
              </a:rPr>
              <a:t>andá por un cafecito</a:t>
            </a:r>
            <a:endParaRPr sz="240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a:solidFill>
                  <a:srgbClr val="F8F2E8"/>
                </a:solidFill>
                <a:latin typeface="Plus Jakarta Sans"/>
                <a:ea typeface="Plus Jakarta Sans"/>
                <a:cs typeface="Plus Jakarta Sans"/>
                <a:sym typeface="Plus Jakarta Sans"/>
              </a:rPr>
              <a:t>o mate, ¡y volvemos!</a:t>
            </a:r>
            <a:endParaRPr sz="2400">
              <a:solidFill>
                <a:srgbClr val="F8F2E8"/>
              </a:solidFill>
              <a:latin typeface="Plus Jakarta Sans"/>
              <a:ea typeface="Plus Jakarta Sans"/>
              <a:cs typeface="Plus Jakarta Sans"/>
              <a:sym typeface="Plus Jakarta Sans"/>
            </a:endParaRPr>
          </a:p>
        </p:txBody>
      </p:sp>
      <p:pic>
        <p:nvPicPr>
          <p:cNvPr id="467" name="Google Shape;467;p60" title="Vector.png"/>
          <p:cNvPicPr preferRelativeResize="0"/>
          <p:nvPr/>
        </p:nvPicPr>
        <p:blipFill rotWithShape="1">
          <a:blip r:embed="rId2">
            <a:alphaModFix/>
          </a:blip>
          <a:srcRect l="29" r="39"/>
          <a:stretch/>
        </p:blipFill>
        <p:spPr>
          <a:xfrm>
            <a:off x="7520578" y="2347936"/>
            <a:ext cx="524575" cy="4476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7"/>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a:solidFill>
                  <a:srgbClr val="FDAB2E"/>
                </a:solidFill>
                <a:latin typeface="Plus Jakarta Sans ExtraBold"/>
                <a:ea typeface="Plus Jakarta Sans ExtraBold"/>
                <a:cs typeface="Plus Jakarta Sans ExtraBold"/>
                <a:sym typeface="Plus Jakarta Sans ExtraBold"/>
              </a:rPr>
              <a:t>04</a:t>
            </a:r>
            <a:endParaRPr sz="1300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p:cNvSpPr txBox="1"/>
          <p:nvPr/>
        </p:nvSpPr>
        <p:spPr>
          <a:xfrm>
            <a:off x="641650" y="3337375"/>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000">
                <a:solidFill>
                  <a:srgbClr val="F8F2E8"/>
                </a:solidFill>
                <a:latin typeface="Plus Jakarta Sans ExtraBold"/>
                <a:ea typeface="Plus Jakarta Sans ExtraBold"/>
                <a:cs typeface="Plus Jakarta Sans ExtraBold"/>
                <a:sym typeface="Plus Jakarta Sans ExtraBold"/>
              </a:rPr>
              <a:t>Práctica en vivo</a:t>
            </a:r>
            <a:endParaRPr sz="400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50"/>
          <p:cNvSpPr/>
          <p:nvPr/>
        </p:nvSpPr>
        <p:spPr>
          <a:xfrm>
            <a:off x="0" y="0"/>
            <a:ext cx="9144000" cy="1950900"/>
          </a:xfrm>
          <a:prstGeom prst="rect">
            <a:avLst/>
          </a:prstGeom>
          <a:solidFill>
            <a:srgbClr val="FDAB2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1" name="Google Shape;381;p50"/>
          <p:cNvSpPr txBox="1"/>
          <p:nvPr/>
        </p:nvSpPr>
        <p:spPr>
          <a:xfrm>
            <a:off x="600250" y="656475"/>
            <a:ext cx="8220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Momentos de la Clase:</a:t>
            </a:r>
            <a:endParaRPr sz="5000">
              <a:solidFill>
                <a:srgbClr val="F8F2E8"/>
              </a:solidFill>
              <a:latin typeface="Plus Jakarta Sans"/>
              <a:ea typeface="Plus Jakarta Sans"/>
              <a:cs typeface="Plus Jakarta Sans"/>
              <a:sym typeface="Plus Jakarta Sans"/>
            </a:endParaRPr>
          </a:p>
        </p:txBody>
      </p:sp>
      <p:sp>
        <p:nvSpPr>
          <p:cNvPr id="382" name="Google Shape;382;p50"/>
          <p:cNvSpPr txBox="1"/>
          <p:nvPr/>
        </p:nvSpPr>
        <p:spPr>
          <a:xfrm>
            <a:off x="730900" y="2015917"/>
            <a:ext cx="8220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5000">
                <a:solidFill>
                  <a:srgbClr val="260700"/>
                </a:solidFill>
                <a:latin typeface="Plus Jakarta Sans ExtraBold"/>
                <a:ea typeface="Plus Jakarta Sans ExtraBold"/>
                <a:cs typeface="Plus Jakarta Sans ExtraBold"/>
                <a:sym typeface="Plus Jakarta Sans ExtraBold"/>
              </a:rPr>
              <a:t>Ejemplo en Vivo</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Actividad colaborativa</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Para pensar</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Para recordar</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Coder Tips</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Material ampliado</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Cuestionario de tarea</a:t>
            </a:r>
            <a:endParaRPr sz="500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5000">
                <a:solidFill>
                  <a:srgbClr val="F8F2E8"/>
                </a:solidFill>
                <a:latin typeface="Plus Jakarta Sans ExtraBold"/>
                <a:ea typeface="Plus Jakarta Sans ExtraBold"/>
                <a:cs typeface="Plus Jakarta Sans ExtraBold"/>
                <a:sym typeface="Plus Jakarta Sans ExtraBold"/>
              </a:rPr>
              <a:t>#FindTheBug</a:t>
            </a:r>
            <a:endParaRPr sz="5000">
              <a:solidFill>
                <a:srgbClr val="F8F2E8"/>
              </a:solidFill>
              <a:latin typeface="Plus Jakarta Sans ExtraBold"/>
              <a:ea typeface="Plus Jakarta Sans ExtraBold"/>
              <a:cs typeface="Plus Jakarta Sans ExtraBold"/>
              <a:sym typeface="Plus Jakarta Sans ExtraBold"/>
            </a:endParaRPr>
          </a:p>
        </p:txBody>
      </p:sp>
      <p:sp>
        <p:nvSpPr>
          <p:cNvPr id="383" name="Google Shape;383;p50"/>
          <p:cNvSpPr txBox="1"/>
          <p:nvPr/>
        </p:nvSpPr>
        <p:spPr>
          <a:xfrm>
            <a:off x="6363575" y="2481425"/>
            <a:ext cx="2191200" cy="22695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0"/>
              </a:spcBef>
              <a:spcAft>
                <a:spcPts val="0"/>
              </a:spcAft>
              <a:buNone/>
            </a:pPr>
            <a:r>
              <a:rPr lang="es" sz="1050">
                <a:solidFill>
                  <a:srgbClr val="171717"/>
                </a:solidFill>
                <a:latin typeface="Plus Jakarta Sans Light"/>
                <a:ea typeface="Plus Jakarta Sans Light"/>
                <a:cs typeface="Plus Jakarta Sans Light"/>
                <a:sym typeface="Plus Jakarta Sans Light"/>
              </a:rPr>
              <a:t>Prompt Battle. El profe muestra un email desordenado de una agencia de viajes y compara dos prompts: uno que es sólo una instrucción y otro con persona, tarea y formato. Mismo modelo, resultados opuestos.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350"/>
              </a:spcAft>
              <a:buNone/>
            </a:pPr>
            <a:r>
              <a:rPr lang="es" sz="1200">
                <a:solidFill>
                  <a:srgbClr val="171717"/>
                </a:solidFill>
                <a:latin typeface="Plus Jakarta Sans Light"/>
                <a:ea typeface="Plus Jakarta Sans Light"/>
                <a:cs typeface="Plus Jakarta Sans Light"/>
                <a:sym typeface="Plus Jakarta Sans Light"/>
              </a:rPr>
              <a:t>Objetivo: tener un punto de comparación honesto.</a:t>
            </a:r>
          </a:p>
          <a:p>
            <a:pPr marL="0" lvl="0" indent="0" algn="l" rtl="0">
              <a:lnSpc>
                <a:spcPct val="115000"/>
              </a:lnSpc>
              <a:spcBef>
                <a:spcPts val="0"/>
              </a:spcBef>
              <a:spcAft>
                <a:spcPts val="250"/>
              </a:spcAft>
              <a:buNone/>
            </a:pPr>
            <a:r>
              <a:rPr lang="es" sz="1200" b="1">
                <a:solidFill>
                  <a:srgbClr val="FF632B"/>
                </a:solidFill>
                <a:latin typeface="Plus Jakarta Sans"/>
                <a:ea typeface="Plus Jakarta Sans"/>
                <a:cs typeface="Plus Jakarta Sans"/>
                <a:sym typeface="Plus Jakarta Sans"/>
              </a:rPr>
              <a:t>Durante este paso vamos a:</a:t>
            </a:r>
          </a:p>
          <a:p>
            <a:pPr marL="285750" lvl="0" indent="-285750" algn="l" rtl="0">
              <a:lnSpc>
                <a:spcPct val="115000"/>
              </a:lnSpc>
              <a:spcBef>
                <a:spcPts val="0"/>
              </a:spcBef>
              <a:spcAft>
                <a:spcPts val="200"/>
              </a:spcAft>
              <a:buClr>
                <a:srgbClr val="FF632B"/>
              </a:buClr>
              <a:buSzPts val="1150"/>
              <a:buFont typeface="Arial"/>
              <a:buChar char="•"/>
            </a:pPr>
            <a:r>
              <a:rPr lang="es" sz="1150">
                <a:solidFill>
                  <a:srgbClr val="171717"/>
                </a:solidFill>
                <a:latin typeface="Plus Jakarta Sans Light"/>
                <a:ea typeface="Plus Jakarta Sans Light"/>
                <a:cs typeface="Plus Jakarta Sans Light"/>
                <a:sym typeface="Plus Jakarta Sans Light"/>
              </a:rPr>
              <a:t>Elegir un caso propio: un email de consulta, una reseña de cliente o un mensaje de WhatsApp desordenado.</a:t>
            </a:r>
          </a:p>
          <a:p>
            <a:pPr marL="285750" lvl="0" indent="-285750" algn="l" rtl="0">
              <a:lnSpc>
                <a:spcPct val="115000"/>
              </a:lnSpc>
              <a:spcBef>
                <a:spcPts val="0"/>
              </a:spcBef>
              <a:spcAft>
                <a:spcPts val="200"/>
              </a:spcAft>
              <a:buClr>
                <a:srgbClr val="FF632B"/>
              </a:buClr>
              <a:buSzPts val="1150"/>
              <a:buFont typeface="Arial"/>
              <a:buChar char="•"/>
            </a:pPr>
            <a:r>
              <a:rPr lang="es" sz="1150">
                <a:solidFill>
                  <a:srgbClr val="171717"/>
                </a:solidFill>
                <a:latin typeface="Plus Jakarta Sans Light"/>
                <a:ea typeface="Plus Jakarta Sans Light"/>
                <a:cs typeface="Plus Jakarta Sans Light"/>
                <a:sym typeface="Plus Jakarta Sans Light"/>
              </a:rPr>
              <a:t>Pedirle la extracción de datos con una sola instrucción, sin ejemplos y sin estructura.</a:t>
            </a:r>
          </a:p>
          <a:p>
            <a:pPr marL="285750" lvl="0" indent="-285750" algn="l" rtl="0">
              <a:lnSpc>
                <a:spcPct val="115000"/>
              </a:lnSpc>
              <a:spcBef>
                <a:spcPts val="0"/>
              </a:spcBef>
              <a:spcAft>
                <a:spcPts val="200"/>
              </a:spcAft>
              <a:buClr>
                <a:srgbClr val="FF632B"/>
              </a:buClr>
              <a:buSzPts val="1150"/>
              <a:buFont typeface="Arial"/>
              <a:buChar char="•"/>
            </a:pPr>
            <a:r>
              <a:rPr lang="es" sz="1150">
                <a:solidFill>
                  <a:srgbClr val="171717"/>
                </a:solidFill>
                <a:latin typeface="Plus Jakarta Sans Light"/>
                <a:ea typeface="Plus Jakarta Sans Light"/>
                <a:cs typeface="Plus Jakarta Sans Light"/>
                <a:sym typeface="Plus Jakarta Sans Light"/>
              </a:rPr>
              <a:t>Guardar la respuesta tal como salió.</a:t>
            </a:r>
          </a:p>
          <a:p>
            <a:pPr marL="0" lvl="0" indent="0" algn="l" rtl="0">
              <a:lnSpc>
                <a:spcPct val="115000"/>
              </a:lnSpc>
              <a:spcBef>
                <a:spcPts val="0"/>
              </a:spcBef>
              <a:spcAft>
                <a:spcPts val="0"/>
              </a:spcAft>
              <a:buNone/>
            </a:pPr>
            <a:r>
              <a:rPr lang="es" sz="1200" b="1">
                <a:solidFill>
                  <a:srgbClr val="FF632B"/>
                </a:solidFill>
                <a:latin typeface="Plus Jakarta Sans"/>
                <a:ea typeface="Plus Jakarta Sans"/>
                <a:cs typeface="Plus Jakarta Sans"/>
                <a:sym typeface="Plus Jakarta Sans"/>
              </a:rPr>
              <a:t>Resultado esperado: </a:t>
            </a:r>
            <a:r>
              <a:rPr lang="es" sz="1200">
                <a:solidFill>
                  <a:srgbClr val="171717"/>
                </a:solidFill>
                <a:latin typeface="Plus Jakarta Sans Light"/>
                <a:ea typeface="Plus Jakarta Sans Light"/>
                <a:cs typeface="Plus Jakarta Sans Light"/>
                <a:sym typeface="Plus Jakarta Sans Light"/>
              </a:rPr>
              <a:t>tu prompt zero-shot y su salida, guardados para comparar.</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4000" b="1">
                <a:solidFill>
                  <a:srgbClr val="FF632B"/>
                </a:solidFill>
                <a:latin typeface="Plus Jakarta Sans ExtraBold"/>
                <a:ea typeface="Plus Jakarta Sans ExtraBold"/>
                <a:cs typeface="Plus Jakarta Sans ExtraBold"/>
                <a:sym typeface="Plus Jakarta Sans ExtraBold"/>
              </a:rPr>
              <a:t>Paso 1: línea base</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Práctica en vivo · paso a paso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350"/>
              </a:spcAft>
              <a:buNone/>
            </a:pPr>
            <a:r>
              <a:rPr lang="es" sz="1200">
                <a:solidFill>
                  <a:srgbClr val="171717"/>
                </a:solidFill>
                <a:latin typeface="Plus Jakarta Sans Light"/>
                <a:ea typeface="Plus Jakarta Sans Light"/>
                <a:cs typeface="Plus Jakarta Sans Light"/>
                <a:sym typeface="Plus Jakarta Sans Light"/>
              </a:rPr>
              <a:t>Objetivo: pasar de una instrucción suelta a un prompt profesional.</a:t>
            </a:r>
          </a:p>
          <a:p>
            <a:pPr marL="0" lvl="0" indent="0" algn="l" rtl="0">
              <a:lnSpc>
                <a:spcPct val="115000"/>
              </a:lnSpc>
              <a:spcBef>
                <a:spcPts val="0"/>
              </a:spcBef>
              <a:spcAft>
                <a:spcPts val="250"/>
              </a:spcAft>
              <a:buNone/>
            </a:pPr>
            <a:r>
              <a:rPr lang="es" sz="1200" b="1">
                <a:solidFill>
                  <a:srgbClr val="FF632B"/>
                </a:solidFill>
                <a:latin typeface="Plus Jakarta Sans"/>
                <a:ea typeface="Plus Jakarta Sans"/>
                <a:cs typeface="Plus Jakarta Sans"/>
                <a:sym typeface="Plus Jakarta Sans"/>
              </a:rPr>
              <a:t>Durante este paso vamos a:</a:t>
            </a:r>
          </a:p>
          <a:p>
            <a:pPr marL="285750" lvl="0" indent="-285750" algn="l" rtl="0">
              <a:lnSpc>
                <a:spcPct val="115000"/>
              </a:lnSpc>
              <a:spcBef>
                <a:spcPts val="0"/>
              </a:spcBef>
              <a:spcAft>
                <a:spcPts val="200"/>
              </a:spcAft>
              <a:buClr>
                <a:srgbClr val="FF632B"/>
              </a:buClr>
              <a:buSzPts val="1150"/>
              <a:buFont typeface="Arial"/>
              <a:buChar char="•"/>
            </a:pPr>
            <a:r>
              <a:rPr lang="es" sz="1150">
                <a:solidFill>
                  <a:srgbClr val="171717"/>
                </a:solidFill>
                <a:latin typeface="Plus Jakarta Sans Light"/>
                <a:ea typeface="Plus Jakarta Sans Light"/>
                <a:cs typeface="Plus Jakarta Sans Light"/>
                <a:sym typeface="Plus Jakarta Sans Light"/>
              </a:rPr>
              <a:t>Definir la Persona que asume el modelo y el Contexto en el que trabaja.</a:t>
            </a:r>
          </a:p>
          <a:p>
            <a:pPr marL="285750" lvl="0" indent="-285750" algn="l" rtl="0">
              <a:lnSpc>
                <a:spcPct val="115000"/>
              </a:lnSpc>
              <a:spcBef>
                <a:spcPts val="0"/>
              </a:spcBef>
              <a:spcAft>
                <a:spcPts val="200"/>
              </a:spcAft>
              <a:buClr>
                <a:srgbClr val="FF632B"/>
              </a:buClr>
              <a:buSzPts val="1150"/>
              <a:buFont typeface="Arial"/>
              <a:buChar char="•"/>
            </a:pPr>
            <a:r>
              <a:rPr lang="es" sz="1150">
                <a:solidFill>
                  <a:srgbClr val="171717"/>
                </a:solidFill>
                <a:latin typeface="Plus Jakarta Sans Light"/>
                <a:ea typeface="Plus Jakarta Sans Light"/>
                <a:cs typeface="Plus Jakarta Sans Light"/>
                <a:sym typeface="Plus Jakarta Sans Light"/>
              </a:rPr>
              <a:t>Escribir la Tarea de forma explícita: qué campos hay que extraer.</a:t>
            </a:r>
          </a:p>
          <a:p>
            <a:pPr marL="285750" lvl="0" indent="-285750" algn="l" rtl="0">
              <a:lnSpc>
                <a:spcPct val="115000"/>
              </a:lnSpc>
              <a:spcBef>
                <a:spcPts val="0"/>
              </a:spcBef>
              <a:spcAft>
                <a:spcPts val="200"/>
              </a:spcAft>
              <a:buClr>
                <a:srgbClr val="FF632B"/>
              </a:buClr>
              <a:buSzPts val="1150"/>
              <a:buFont typeface="Arial"/>
              <a:buChar char="•"/>
            </a:pPr>
            <a:r>
              <a:rPr lang="es" sz="1150">
                <a:solidFill>
                  <a:srgbClr val="171717"/>
                </a:solidFill>
                <a:latin typeface="Plus Jakarta Sans Light"/>
                <a:ea typeface="Plus Jakarta Sans Light"/>
                <a:cs typeface="Plus Jakarta Sans Light"/>
                <a:sym typeface="Plus Jakarta Sans Light"/>
              </a:rPr>
              <a:t>Fijar el Formato de salida y envolver el texto fuente entre delimitadores.</a:t>
            </a:r>
          </a:p>
          <a:p>
            <a:pPr marL="0" lvl="0" indent="0" algn="l" rtl="0">
              <a:lnSpc>
                <a:spcPct val="115000"/>
              </a:lnSpc>
              <a:spcBef>
                <a:spcPts val="0"/>
              </a:spcBef>
              <a:spcAft>
                <a:spcPts val="0"/>
              </a:spcAft>
              <a:buNone/>
            </a:pPr>
            <a:r>
              <a:rPr lang="es" sz="1200" b="1">
                <a:solidFill>
                  <a:srgbClr val="FF632B"/>
                </a:solidFill>
                <a:latin typeface="Plus Jakarta Sans"/>
                <a:ea typeface="Plus Jakarta Sans"/>
                <a:cs typeface="Plus Jakarta Sans"/>
                <a:sym typeface="Plus Jakarta Sans"/>
              </a:rPr>
              <a:t>Resultado esperado: </a:t>
            </a:r>
            <a:r>
              <a:rPr lang="es" sz="1200">
                <a:solidFill>
                  <a:srgbClr val="171717"/>
                </a:solidFill>
                <a:latin typeface="Plus Jakarta Sans Light"/>
                <a:ea typeface="Plus Jakarta Sans Light"/>
                <a:cs typeface="Plus Jakarta Sans Light"/>
                <a:sym typeface="Plus Jakarta Sans Light"/>
              </a:rPr>
              <a:t>la versión 2 del prompt, con persona, contexto, tarea y formato.</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3200" b="1">
                <a:solidFill>
                  <a:srgbClr val="FF632B"/>
                </a:solidFill>
                <a:latin typeface="Plus Jakarta Sans ExtraBold"/>
                <a:ea typeface="Plus Jakarta Sans ExtraBold"/>
                <a:cs typeface="Plus Jakarta Sans ExtraBold"/>
                <a:sym typeface="Plus Jakarta Sans ExtraBold"/>
              </a:rPr>
              <a:t>Paso 2: la estructura</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Práctica en vivo · paso a paso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350"/>
              </a:spcAft>
              <a:buNone/>
            </a:pPr>
            <a:r>
              <a:rPr lang="es" sz="1200">
                <a:solidFill>
                  <a:srgbClr val="171717"/>
                </a:solidFill>
                <a:latin typeface="Plus Jakarta Sans Light"/>
                <a:ea typeface="Plus Jakarta Sans Light"/>
                <a:cs typeface="Plus Jakarta Sans Light"/>
                <a:sym typeface="Plus Jakarta Sans Light"/>
              </a:rPr>
              <a:t>Objetivo: que el modelo copie tu forma de trabajar sin que se la expliques.</a:t>
            </a:r>
          </a:p>
          <a:p>
            <a:pPr marL="0" lvl="0" indent="0" algn="l" rtl="0">
              <a:lnSpc>
                <a:spcPct val="115000"/>
              </a:lnSpc>
              <a:spcBef>
                <a:spcPts val="0"/>
              </a:spcBef>
              <a:spcAft>
                <a:spcPts val="250"/>
              </a:spcAft>
              <a:buNone/>
            </a:pPr>
            <a:r>
              <a:rPr lang="es" sz="1200" b="1">
                <a:solidFill>
                  <a:srgbClr val="FF632B"/>
                </a:solidFill>
                <a:latin typeface="Plus Jakarta Sans"/>
                <a:ea typeface="Plus Jakarta Sans"/>
                <a:cs typeface="Plus Jakarta Sans"/>
                <a:sym typeface="Plus Jakarta Sans"/>
              </a:rPr>
              <a:t>Durante este paso vamos a:</a:t>
            </a:r>
          </a:p>
          <a:p>
            <a:pPr marL="285750" lvl="0" indent="-285750" algn="l" rtl="0">
              <a:lnSpc>
                <a:spcPct val="115000"/>
              </a:lnSpc>
              <a:spcBef>
                <a:spcPts val="0"/>
              </a:spcBef>
              <a:spcAft>
                <a:spcPts val="200"/>
              </a:spcAft>
              <a:buClr>
                <a:srgbClr val="FF632B"/>
              </a:buClr>
              <a:buSzPts val="1150"/>
              <a:buFont typeface="Arial"/>
              <a:buChar char="•"/>
            </a:pPr>
            <a:r>
              <a:rPr lang="es" sz="1150">
                <a:solidFill>
                  <a:srgbClr val="171717"/>
                </a:solidFill>
                <a:latin typeface="Plus Jakarta Sans Light"/>
                <a:ea typeface="Plus Jakarta Sans Light"/>
                <a:cs typeface="Plus Jakarta Sans Light"/>
                <a:sym typeface="Plus Jakarta Sans Light"/>
              </a:rPr>
              <a:t>Agregar dos o tres ejemplos de entrada y salida dentro del prompt (few-shot).</a:t>
            </a:r>
          </a:p>
          <a:p>
            <a:pPr marL="285750" lvl="0" indent="-285750" algn="l" rtl="0">
              <a:lnSpc>
                <a:spcPct val="115000"/>
              </a:lnSpc>
              <a:spcBef>
                <a:spcPts val="0"/>
              </a:spcBef>
              <a:spcAft>
                <a:spcPts val="200"/>
              </a:spcAft>
              <a:buClr>
                <a:srgbClr val="FF632B"/>
              </a:buClr>
              <a:buSzPts val="1150"/>
              <a:buFont typeface="Arial"/>
              <a:buChar char="•"/>
            </a:pPr>
            <a:r>
              <a:rPr lang="es" sz="1150">
                <a:solidFill>
                  <a:srgbClr val="171717"/>
                </a:solidFill>
                <a:latin typeface="Plus Jakarta Sans Light"/>
                <a:ea typeface="Plus Jakarta Sans Light"/>
                <a:cs typeface="Plus Jakarta Sans Light"/>
                <a:sym typeface="Plus Jakarta Sans Light"/>
              </a:rPr>
              <a:t>Cuidar que los ejemplos muestren el tono y la estructura exacta que querés.</a:t>
            </a:r>
          </a:p>
          <a:p>
            <a:pPr marL="285750" lvl="0" indent="-285750" algn="l" rtl="0">
              <a:lnSpc>
                <a:spcPct val="115000"/>
              </a:lnSpc>
              <a:spcBef>
                <a:spcPts val="0"/>
              </a:spcBef>
              <a:spcAft>
                <a:spcPts val="200"/>
              </a:spcAft>
              <a:buClr>
                <a:srgbClr val="FF632B"/>
              </a:buClr>
              <a:buSzPts val="1150"/>
              <a:buFont typeface="Arial"/>
              <a:buChar char="•"/>
            </a:pPr>
            <a:r>
              <a:rPr lang="es" sz="1150">
                <a:solidFill>
                  <a:srgbClr val="171717"/>
                </a:solidFill>
                <a:latin typeface="Plus Jakarta Sans Light"/>
                <a:ea typeface="Plus Jakarta Sans Light"/>
                <a:cs typeface="Plus Jakarta Sans Light"/>
                <a:sym typeface="Plus Jakarta Sans Light"/>
              </a:rPr>
              <a:t>Correr de nuevo y comparar contra la línea base del paso 1.</a:t>
            </a:r>
          </a:p>
          <a:p>
            <a:pPr marL="0" lvl="0" indent="0" algn="l" rtl="0">
              <a:lnSpc>
                <a:spcPct val="115000"/>
              </a:lnSpc>
              <a:spcBef>
                <a:spcPts val="0"/>
              </a:spcBef>
              <a:spcAft>
                <a:spcPts val="0"/>
              </a:spcAft>
              <a:buNone/>
            </a:pPr>
            <a:r>
              <a:rPr lang="es" sz="1200" b="1">
                <a:solidFill>
                  <a:srgbClr val="FF632B"/>
                </a:solidFill>
                <a:latin typeface="Plus Jakarta Sans"/>
                <a:ea typeface="Plus Jakarta Sans"/>
                <a:cs typeface="Plus Jakarta Sans"/>
                <a:sym typeface="Plus Jakarta Sans"/>
              </a:rPr>
              <a:t>Resultado esperado: </a:t>
            </a:r>
            <a:r>
              <a:rPr lang="es" sz="1200">
                <a:solidFill>
                  <a:srgbClr val="171717"/>
                </a:solidFill>
                <a:latin typeface="Plus Jakarta Sans Light"/>
                <a:ea typeface="Plus Jakarta Sans Light"/>
                <a:cs typeface="Plus Jakarta Sans Light"/>
                <a:sym typeface="Plus Jakarta Sans Light"/>
              </a:rPr>
              <a:t>la versión 3, con ejemplos, devolviendo siempre el mismo formato.</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3200" b="1">
                <a:solidFill>
                  <a:srgbClr val="FF632B"/>
                </a:solidFill>
                <a:latin typeface="Plus Jakarta Sans ExtraBold"/>
                <a:ea typeface="Plus Jakarta Sans ExtraBold"/>
                <a:cs typeface="Plus Jakarta Sans ExtraBold"/>
                <a:sym typeface="Plus Jakarta Sans ExtraBold"/>
              </a:rPr>
              <a:t>Paso 3: los ejemplos</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Práctica en vivo · paso a paso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350"/>
              </a:spcAft>
              <a:buNone/>
            </a:pPr>
            <a:r>
              <a:rPr lang="es" sz="1200">
                <a:solidFill>
                  <a:srgbClr val="171717"/>
                </a:solidFill>
                <a:latin typeface="Plus Jakarta Sans Light"/>
                <a:ea typeface="Plus Jakarta Sans Light"/>
                <a:cs typeface="Plus Jakarta Sans Light"/>
                <a:sym typeface="Plus Jakarta Sans Light"/>
              </a:rPr>
              <a:t>Objetivo: que el modelo admita lo que no sabe en lugar de inventarlo.</a:t>
            </a:r>
          </a:p>
          <a:p>
            <a:pPr marL="0" lvl="0" indent="0" algn="l" rtl="0">
              <a:lnSpc>
                <a:spcPct val="115000"/>
              </a:lnSpc>
              <a:spcBef>
                <a:spcPts val="0"/>
              </a:spcBef>
              <a:spcAft>
                <a:spcPts val="250"/>
              </a:spcAft>
              <a:buNone/>
            </a:pPr>
            <a:r>
              <a:rPr lang="es" sz="1200" b="1">
                <a:solidFill>
                  <a:srgbClr val="FF632B"/>
                </a:solidFill>
                <a:latin typeface="Plus Jakarta Sans"/>
                <a:ea typeface="Plus Jakarta Sans"/>
                <a:cs typeface="Plus Jakarta Sans"/>
                <a:sym typeface="Plus Jakarta Sans"/>
              </a:rPr>
              <a:t>Durante este paso vamos a:</a:t>
            </a:r>
          </a:p>
          <a:p>
            <a:pPr marL="285750" lvl="0" indent="-285750" algn="l" rtl="0">
              <a:lnSpc>
                <a:spcPct val="115000"/>
              </a:lnSpc>
              <a:spcBef>
                <a:spcPts val="0"/>
              </a:spcBef>
              <a:spcAft>
                <a:spcPts val="200"/>
              </a:spcAft>
              <a:buClr>
                <a:srgbClr val="FF632B"/>
              </a:buClr>
              <a:buSzPts val="1150"/>
              <a:buFont typeface="Arial"/>
              <a:buChar char="•"/>
            </a:pPr>
            <a:r>
              <a:rPr lang="es" sz="1150">
                <a:solidFill>
                  <a:srgbClr val="171717"/>
                </a:solidFill>
                <a:latin typeface="Plus Jakarta Sans Light"/>
                <a:ea typeface="Plus Jakarta Sans Light"/>
                <a:cs typeface="Plus Jakarta Sans Light"/>
                <a:sym typeface="Plus Jakarta Sans Light"/>
              </a:rPr>
              <a:t>Pedirle que razone paso a paso antes de dar la respuesta final (Chain of Thought).</a:t>
            </a:r>
          </a:p>
          <a:p>
            <a:pPr marL="285750" lvl="0" indent="-285750" algn="l" rtl="0">
              <a:lnSpc>
                <a:spcPct val="115000"/>
              </a:lnSpc>
              <a:spcBef>
                <a:spcPts val="0"/>
              </a:spcBef>
              <a:spcAft>
                <a:spcPts val="200"/>
              </a:spcAft>
              <a:buClr>
                <a:srgbClr val="FF632B"/>
              </a:buClr>
              <a:buSzPts val="1150"/>
              <a:buFont typeface="Arial"/>
              <a:buChar char="•"/>
            </a:pPr>
            <a:r>
              <a:rPr lang="es" sz="1150">
                <a:solidFill>
                  <a:srgbClr val="171717"/>
                </a:solidFill>
                <a:latin typeface="Plus Jakarta Sans Light"/>
                <a:ea typeface="Plus Jakarta Sans Light"/>
                <a:cs typeface="Plus Jakarta Sans Light"/>
                <a:sym typeface="Plus Jakarta Sans Light"/>
              </a:rPr>
              <a:t>Prohibirle usar cualquier información que no esté en el texto que le pasamos.</a:t>
            </a:r>
          </a:p>
          <a:p>
            <a:pPr marL="285750" lvl="0" indent="-285750" algn="l" rtl="0">
              <a:lnSpc>
                <a:spcPct val="115000"/>
              </a:lnSpc>
              <a:spcBef>
                <a:spcPts val="0"/>
              </a:spcBef>
              <a:spcAft>
                <a:spcPts val="200"/>
              </a:spcAft>
              <a:buClr>
                <a:srgbClr val="FF632B"/>
              </a:buClr>
              <a:buSzPts val="1150"/>
              <a:buFont typeface="Arial"/>
              <a:buChar char="•"/>
            </a:pPr>
            <a:r>
              <a:rPr lang="es" sz="1150">
                <a:solidFill>
                  <a:srgbClr val="171717"/>
                </a:solidFill>
                <a:latin typeface="Plus Jakarta Sans Light"/>
                <a:ea typeface="Plus Jakarta Sans Light"/>
                <a:cs typeface="Plus Jakarta Sans Light"/>
                <a:sym typeface="Plus Jakarta Sans Light"/>
              </a:rPr>
              <a:t>Definir un valor fijo para los datos ausentes, por ejemplo “no_disponible”.</a:t>
            </a:r>
          </a:p>
          <a:p>
            <a:pPr marL="0" lvl="0" indent="0" algn="l" rtl="0">
              <a:lnSpc>
                <a:spcPct val="115000"/>
              </a:lnSpc>
              <a:spcBef>
                <a:spcPts val="0"/>
              </a:spcBef>
              <a:spcAft>
                <a:spcPts val="0"/>
              </a:spcAft>
              <a:buNone/>
            </a:pPr>
            <a:r>
              <a:rPr lang="es" sz="1200" b="1">
                <a:solidFill>
                  <a:srgbClr val="FF632B"/>
                </a:solidFill>
                <a:latin typeface="Plus Jakarta Sans"/>
                <a:ea typeface="Plus Jakarta Sans"/>
                <a:cs typeface="Plus Jakarta Sans"/>
                <a:sym typeface="Plus Jakarta Sans"/>
              </a:rPr>
              <a:t>Resultado esperado: </a:t>
            </a:r>
            <a:r>
              <a:rPr lang="es" sz="1200">
                <a:solidFill>
                  <a:srgbClr val="171717"/>
                </a:solidFill>
                <a:latin typeface="Plus Jakarta Sans Light"/>
                <a:ea typeface="Plus Jakarta Sans Light"/>
                <a:cs typeface="Plus Jakarta Sans Light"/>
                <a:sym typeface="Plus Jakarta Sans Light"/>
              </a:rPr>
              <a:t>un prompt que ante un dato faltante lo marca en vez de inventarlo.</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3200" b="1">
                <a:solidFill>
                  <a:srgbClr val="FF632B"/>
                </a:solidFill>
                <a:latin typeface="Plus Jakarta Sans ExtraBold"/>
                <a:ea typeface="Plus Jakarta Sans ExtraBold"/>
                <a:cs typeface="Plus Jakarta Sans ExtraBold"/>
                <a:sym typeface="Plus Jakarta Sans ExtraBold"/>
              </a:rPr>
              <a:t>Paso 4: anti-alucinación</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Práctica en vivo · paso a paso</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350"/>
              </a:spcAft>
              <a:buNone/>
            </a:pPr>
            <a:r>
              <a:rPr lang="es" sz="1200">
                <a:solidFill>
                  <a:srgbClr val="171717"/>
                </a:solidFill>
                <a:latin typeface="Plus Jakarta Sans Light"/>
                <a:ea typeface="Plus Jakarta Sans Light"/>
                <a:cs typeface="Plus Jakarta Sans Light"/>
                <a:sym typeface="Plus Jakarta Sans Light"/>
              </a:rPr>
              <a:t>Objetivo: dejar el prompt listo para enchufar a una automatización.</a:t>
            </a:r>
          </a:p>
          <a:p>
            <a:pPr marL="0" lvl="0" indent="0" algn="l" rtl="0">
              <a:lnSpc>
                <a:spcPct val="115000"/>
              </a:lnSpc>
              <a:spcBef>
                <a:spcPts val="0"/>
              </a:spcBef>
              <a:spcAft>
                <a:spcPts val="250"/>
              </a:spcAft>
              <a:buNone/>
            </a:pPr>
            <a:r>
              <a:rPr lang="es" sz="1200" b="1">
                <a:solidFill>
                  <a:srgbClr val="FF632B"/>
                </a:solidFill>
                <a:latin typeface="Plus Jakarta Sans"/>
                <a:ea typeface="Plus Jakarta Sans"/>
                <a:cs typeface="Plus Jakarta Sans"/>
                <a:sym typeface="Plus Jakarta Sans"/>
              </a:rPr>
              <a:t>Durante este paso vamos a:</a:t>
            </a:r>
          </a:p>
          <a:p>
            <a:pPr marL="285750" lvl="0" indent="-285750" algn="l" rtl="0">
              <a:lnSpc>
                <a:spcPct val="115000"/>
              </a:lnSpc>
              <a:spcBef>
                <a:spcPts val="0"/>
              </a:spcBef>
              <a:spcAft>
                <a:spcPts val="200"/>
              </a:spcAft>
              <a:buClr>
                <a:srgbClr val="FF632B"/>
              </a:buClr>
              <a:buSzPts val="1150"/>
              <a:buFont typeface="Arial"/>
              <a:buChar char="•"/>
            </a:pPr>
            <a:r>
              <a:rPr lang="es" sz="1150">
                <a:solidFill>
                  <a:srgbClr val="171717"/>
                </a:solidFill>
                <a:latin typeface="Plus Jakarta Sans Light"/>
                <a:ea typeface="Plus Jakarta Sans Light"/>
                <a:cs typeface="Plus Jakarta Sans Light"/>
                <a:sym typeface="Plus Jakarta Sans Light"/>
              </a:rPr>
              <a:t>Declarar en el prompt las llaves exactas del objeto JSON.</a:t>
            </a:r>
          </a:p>
          <a:p>
            <a:pPr marL="285750" lvl="0" indent="-285750" algn="l" rtl="0">
              <a:lnSpc>
                <a:spcPct val="115000"/>
              </a:lnSpc>
              <a:spcBef>
                <a:spcPts val="0"/>
              </a:spcBef>
              <a:spcAft>
                <a:spcPts val="200"/>
              </a:spcAft>
              <a:buClr>
                <a:srgbClr val="FF632B"/>
              </a:buClr>
              <a:buSzPts val="1150"/>
              <a:buFont typeface="Arial"/>
              <a:buChar char="•"/>
            </a:pPr>
            <a:r>
              <a:rPr lang="es" sz="1150">
                <a:solidFill>
                  <a:srgbClr val="171717"/>
                </a:solidFill>
                <a:latin typeface="Plus Jakarta Sans Light"/>
                <a:ea typeface="Plus Jakarta Sans Light"/>
                <a:cs typeface="Plus Jakarta Sans Light"/>
                <a:sym typeface="Plus Jakarta Sans Light"/>
              </a:rPr>
              <a:t>Prohibir cualquier texto antes o después del JSON.</a:t>
            </a:r>
          </a:p>
          <a:p>
            <a:pPr marL="285750" lvl="0" indent="-285750" algn="l" rtl="0">
              <a:lnSpc>
                <a:spcPct val="115000"/>
              </a:lnSpc>
              <a:spcBef>
                <a:spcPts val="0"/>
              </a:spcBef>
              <a:spcAft>
                <a:spcPts val="200"/>
              </a:spcAft>
              <a:buClr>
                <a:srgbClr val="FF632B"/>
              </a:buClr>
              <a:buSzPts val="1150"/>
              <a:buFont typeface="Arial"/>
              <a:buChar char="•"/>
            </a:pPr>
            <a:r>
              <a:rPr lang="es" sz="1150">
                <a:solidFill>
                  <a:srgbClr val="171717"/>
                </a:solidFill>
                <a:latin typeface="Plus Jakarta Sans Light"/>
                <a:ea typeface="Plus Jakarta Sans Light"/>
                <a:cs typeface="Plus Jakarta Sans Light"/>
                <a:sym typeface="Plus Jakarta Sans Light"/>
              </a:rPr>
              <a:t>Validar la salida en un JSON Formatter hasta que dé válida.</a:t>
            </a:r>
          </a:p>
          <a:p>
            <a:pPr marL="0" lvl="0" indent="0" algn="l" rtl="0">
              <a:lnSpc>
                <a:spcPct val="115000"/>
              </a:lnSpc>
              <a:spcBef>
                <a:spcPts val="0"/>
              </a:spcBef>
              <a:spcAft>
                <a:spcPts val="0"/>
              </a:spcAft>
              <a:buNone/>
            </a:pPr>
            <a:r>
              <a:rPr lang="es" sz="1200" b="1">
                <a:solidFill>
                  <a:srgbClr val="FF632B"/>
                </a:solidFill>
                <a:latin typeface="Plus Jakarta Sans"/>
                <a:ea typeface="Plus Jakarta Sans"/>
                <a:cs typeface="Plus Jakarta Sans"/>
                <a:sym typeface="Plus Jakarta Sans"/>
              </a:rPr>
              <a:t>Resultado esperado: </a:t>
            </a:r>
            <a:r>
              <a:rPr lang="es" sz="1200">
                <a:solidFill>
                  <a:srgbClr val="171717"/>
                </a:solidFill>
                <a:latin typeface="Plus Jakarta Sans Light"/>
                <a:ea typeface="Plus Jakarta Sans Light"/>
                <a:cs typeface="Plus Jakarta Sans Light"/>
                <a:sym typeface="Plus Jakarta Sans Light"/>
              </a:rPr>
              <a:t>tu plantilla maestra de prompt. Eso mismo es el desafío del módulo.</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3200" b="1">
                <a:solidFill>
                  <a:srgbClr val="FF632B"/>
                </a:solidFill>
                <a:latin typeface="Plus Jakarta Sans ExtraBold"/>
                <a:ea typeface="Plus Jakarta Sans ExtraBold"/>
                <a:cs typeface="Plus Jakarta Sans ExtraBold"/>
                <a:sym typeface="Plus Jakarta Sans ExtraBold"/>
              </a:rPr>
              <a:t>Paso 5: salida JSON</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Práctica en vivo · paso a paso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6"/>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a:solidFill>
                  <a:srgbClr val="FF632B"/>
                </a:solidFill>
                <a:latin typeface="Plus Jakarta Sans ExtraBold"/>
                <a:ea typeface="Plus Jakarta Sans ExtraBold"/>
                <a:cs typeface="Plus Jakarta Sans ExtraBold"/>
                <a:sym typeface="Plus Jakarta Sans ExtraBold"/>
              </a:rPr>
              <a:t>05</a:t>
            </a:r>
            <a:endParaRPr sz="13000">
              <a:solidFill>
                <a:srgbClr val="FF632B"/>
              </a:solidFill>
              <a:latin typeface="Plus Jakarta Sans ExtraBold"/>
              <a:ea typeface="Plus Jakarta Sans ExtraBold"/>
              <a:cs typeface="Plus Jakarta Sans ExtraBold"/>
              <a:sym typeface="Plus Jakarta Sans ExtraBold"/>
            </a:endParaRPr>
          </a:p>
        </p:txBody>
      </p:sp>
      <p:sp>
        <p:nvSpPr>
          <p:cNvPr id="230" name="Google Shape;230;p36"/>
          <p:cNvSpPr txBox="1"/>
          <p:nvPr/>
        </p:nvSpPr>
        <p:spPr>
          <a:xfrm>
            <a:off x="641650" y="3337375"/>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000">
                <a:solidFill>
                  <a:srgbClr val="F8F2E8"/>
                </a:solidFill>
                <a:latin typeface="Plus Jakarta Sans ExtraBold"/>
                <a:ea typeface="Plus Jakarta Sans ExtraBold"/>
                <a:cs typeface="Plus Jakarta Sans ExtraBold"/>
                <a:sym typeface="Plus Jakarta Sans ExtraBold"/>
              </a:rPr>
              <a:t>Tu desafío del módulo</a:t>
            </a:r>
            <a:endParaRPr sz="400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Lo que construiste: </a:t>
            </a:r>
            <a:r>
              <a:rPr lang="es" sz="1200">
                <a:solidFill>
                  <a:srgbClr val="171717"/>
                </a:solidFill>
                <a:latin typeface="Plus Jakarta Sans Light"/>
                <a:ea typeface="Plus Jakarta Sans Light"/>
                <a:cs typeface="Plus Jakarta Sans Light"/>
                <a:sym typeface="Plus Jakarta Sans Light"/>
              </a:rPr>
              <a:t>un prompt que toma un texto desordenado y devuelve datos estructurados.</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Los pasos 1 a 3: </a:t>
            </a:r>
            <a:r>
              <a:rPr lang="es" sz="1200">
                <a:solidFill>
                  <a:srgbClr val="171717"/>
                </a:solidFill>
                <a:latin typeface="Plus Jakarta Sans Light"/>
                <a:ea typeface="Plus Jakarta Sans Light"/>
                <a:cs typeface="Plus Jakarta Sans Light"/>
                <a:sym typeface="Plus Jakarta Sans Light"/>
              </a:rPr>
              <a:t>le dieron estructura, formato y ejemplos.</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El paso 4: </a:t>
            </a:r>
            <a:r>
              <a:rPr lang="es" sz="1200">
                <a:solidFill>
                  <a:srgbClr val="171717"/>
                </a:solidFill>
                <a:latin typeface="Plus Jakarta Sans Light"/>
                <a:ea typeface="Plus Jakarta Sans Light"/>
                <a:cs typeface="Plus Jakarta Sans Light"/>
                <a:sym typeface="Plus Jakarta Sans Light"/>
              </a:rPr>
              <a:t>le puso freno a las alucinaciones.</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El paso 5: </a:t>
            </a:r>
            <a:r>
              <a:rPr lang="es" sz="1200">
                <a:solidFill>
                  <a:srgbClr val="171717"/>
                </a:solidFill>
                <a:latin typeface="Plus Jakarta Sans Light"/>
                <a:ea typeface="Plus Jakarta Sans Light"/>
                <a:cs typeface="Plus Jakarta Sans Light"/>
                <a:sym typeface="Plus Jakarta Sans Light"/>
              </a:rPr>
              <a:t>lo dejó devolviendo JSON puro.</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Para qué sirve: </a:t>
            </a:r>
            <a:r>
              <a:rPr lang="es" sz="1200">
                <a:solidFill>
                  <a:srgbClr val="171717"/>
                </a:solidFill>
                <a:latin typeface="Plus Jakarta Sans Light"/>
                <a:ea typeface="Plus Jakarta Sans Light"/>
                <a:cs typeface="Plus Jakarta Sans Light"/>
                <a:sym typeface="Plus Jakarta Sans Light"/>
              </a:rPr>
              <a:t>es la pieza que vas a pegar adentro de n8n en el módulo 2.</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4000" b="1">
                <a:solidFill>
                  <a:srgbClr val="FF632B"/>
                </a:solidFill>
                <a:latin typeface="Plus Jakarta Sans ExtraBold"/>
                <a:ea typeface="Plus Jakarta Sans ExtraBold"/>
                <a:cs typeface="Plus Jakarta Sans ExtraBold"/>
                <a:sym typeface="Plus Jakarta Sans ExtraBold"/>
              </a:rPr>
              <a:t>¿De qué se trata?</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Los cinco pasos, en un solo prompt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300"/>
              </a:spcAft>
              <a:buNone/>
            </a:pPr>
            <a:r>
              <a:rPr lang="es" sz="1200" b="1">
                <a:solidFill>
                  <a:srgbClr val="FF632B"/>
                </a:solidFill>
                <a:latin typeface="Plus Jakarta Sans"/>
                <a:ea typeface="Plus Jakarta Sans"/>
                <a:cs typeface="Plus Jakarta Sans"/>
                <a:sym typeface="Plus Jakarta Sans"/>
              </a:rPr>
              <a:t>⏱️ Duración estimada: </a:t>
            </a:r>
            <a:r>
              <a:rPr lang="es" sz="1200">
                <a:solidFill>
                  <a:srgbClr val="171717"/>
                </a:solidFill>
                <a:latin typeface="Plus Jakarta Sans Light"/>
                <a:ea typeface="Plus Jakarta Sans Light"/>
                <a:cs typeface="Plus Jakarta Sans Light"/>
                <a:sym typeface="Plus Jakarta Sans Light"/>
              </a:rPr>
              <a:t>entre 45 y 60 minutos.</a:t>
            </a:r>
          </a:p>
          <a:p>
            <a:pPr marL="0" lvl="0" indent="0" algn="l" rtl="0">
              <a:lnSpc>
                <a:spcPct val="115000"/>
              </a:lnSpc>
              <a:spcBef>
                <a:spcPts val="0"/>
              </a:spcBef>
              <a:spcAft>
                <a:spcPts val="400"/>
              </a:spcAft>
              <a:buNone/>
            </a:pPr>
            <a:r>
              <a:rPr lang="es" sz="1200" b="1">
                <a:solidFill>
                  <a:srgbClr val="FF632B"/>
                </a:solidFill>
                <a:latin typeface="Plus Jakarta Sans"/>
                <a:ea typeface="Plus Jakarta Sans"/>
                <a:cs typeface="Plus Jakarta Sans"/>
                <a:sym typeface="Plus Jakarta Sans"/>
              </a:rPr>
              <a:t>📄 Entrega: </a:t>
            </a:r>
            <a:r>
              <a:rPr lang="es" sz="1200">
                <a:solidFill>
                  <a:srgbClr val="171717"/>
                </a:solidFill>
                <a:latin typeface="Plus Jakarta Sans Light"/>
                <a:ea typeface="Plus Jakarta Sans Light"/>
                <a:cs typeface="Plus Jakarta Sans Light"/>
                <a:sym typeface="Plus Jakarta Sans Light"/>
              </a:rPr>
              <a:t>un documento con el prompt final, un texto de ejemplo y la salida JSON que obtuviste.</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El caso: </a:t>
            </a:r>
            <a:r>
              <a:rPr lang="es" sz="1200">
                <a:solidFill>
                  <a:srgbClr val="171717"/>
                </a:solidFill>
                <a:latin typeface="Plus Jakarta Sans Light"/>
                <a:ea typeface="Plus Jakarta Sans Light"/>
                <a:cs typeface="Plus Jakarta Sans Light"/>
                <a:sym typeface="Plus Jakarta Sans Light"/>
              </a:rPr>
              <a:t>tiene que ser tuyo, de tu trabajo o de tu proyecto. No uses el ejemplo de la clase.</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La prueba: </a:t>
            </a:r>
            <a:r>
              <a:rPr lang="es" sz="1200">
                <a:solidFill>
                  <a:srgbClr val="171717"/>
                </a:solidFill>
                <a:latin typeface="Plus Jakarta Sans Light"/>
                <a:ea typeface="Plus Jakarta Sans Light"/>
                <a:cs typeface="Plus Jakarta Sans Light"/>
                <a:sym typeface="Plus Jakarta Sans Light"/>
              </a:rPr>
              <a:t>el prompt tiene que funcionar con dos textos distintos, no sólo con uno.</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4000" b="1">
                <a:solidFill>
                  <a:srgbClr val="FF632B"/>
                </a:solidFill>
                <a:latin typeface="Plus Jakarta Sans ExtraBold"/>
                <a:ea typeface="Plus Jakarta Sans ExtraBold"/>
                <a:cs typeface="Plus Jakarta Sans ExtraBold"/>
                <a:sym typeface="Plus Jakarta Sans ExtraBold"/>
              </a:rPr>
              <a:t>Tu misión</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Qué entregás y en cuánto tiempo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400"/>
              </a:spcAft>
              <a:buClr>
                <a:srgbClr val="171717"/>
              </a:buClr>
              <a:buSzPts val="1200"/>
              <a:buFont typeface="Plus Jakarta Sans Light"/>
              <a:buAutoNum type="arabicPeriod"/>
            </a:pPr>
            <a:r>
              <a:rPr lang="es" sz="1200">
                <a:solidFill>
                  <a:srgbClr val="171717"/>
                </a:solidFill>
                <a:latin typeface="Plus Jakarta Sans Light"/>
                <a:ea typeface="Plus Jakarta Sans Light"/>
                <a:cs typeface="Plus Jakarta Sans Light"/>
                <a:sym typeface="Plus Jakarta Sans Light"/>
              </a:rPr>
              <a:t>Elegí un caso real y conseguí dos textos desordenados del mismo tipo.</a:t>
            </a:r>
          </a:p>
          <a:p>
            <a:pPr marL="457200" lvl="0" indent="-304800" algn="l" rtl="0">
              <a:lnSpc>
                <a:spcPct val="115000"/>
              </a:lnSpc>
              <a:spcBef>
                <a:spcPts val="0"/>
              </a:spcBef>
              <a:spcAft>
                <a:spcPts val="400"/>
              </a:spcAft>
              <a:buClr>
                <a:srgbClr val="171717"/>
              </a:buClr>
              <a:buSzPts val="1200"/>
              <a:buFont typeface="Plus Jakarta Sans Light"/>
              <a:buAutoNum type="arabicPeriod"/>
            </a:pPr>
            <a:r>
              <a:rPr lang="es" sz="1200">
                <a:solidFill>
                  <a:srgbClr val="171717"/>
                </a:solidFill>
                <a:latin typeface="Plus Jakarta Sans Light"/>
                <a:ea typeface="Plus Jakarta Sans Light"/>
                <a:cs typeface="Plus Jakarta Sans Light"/>
                <a:sym typeface="Plus Jakarta Sans Light"/>
              </a:rPr>
              <a:t>Aplicá los cinco pasos de la práctica sobre el primero.</a:t>
            </a:r>
          </a:p>
          <a:p>
            <a:pPr marL="457200" lvl="0" indent="-304800" algn="l" rtl="0">
              <a:lnSpc>
                <a:spcPct val="115000"/>
              </a:lnSpc>
              <a:spcBef>
                <a:spcPts val="0"/>
              </a:spcBef>
              <a:spcAft>
                <a:spcPts val="400"/>
              </a:spcAft>
              <a:buClr>
                <a:srgbClr val="171717"/>
              </a:buClr>
              <a:buSzPts val="1200"/>
              <a:buFont typeface="Plus Jakarta Sans Light"/>
              <a:buAutoNum type="arabicPeriod"/>
            </a:pPr>
            <a:r>
              <a:rPr lang="es" sz="1200">
                <a:solidFill>
                  <a:srgbClr val="171717"/>
                </a:solidFill>
                <a:latin typeface="Plus Jakarta Sans Light"/>
                <a:ea typeface="Plus Jakarta Sans Light"/>
                <a:cs typeface="Plus Jakarta Sans Light"/>
                <a:sym typeface="Plus Jakarta Sans Light"/>
              </a:rPr>
              <a:t>Probá el prompt con el segundo texto sin cambiarle nada.</a:t>
            </a:r>
          </a:p>
          <a:p>
            <a:pPr marL="457200" lvl="0" indent="-304800" algn="l" rtl="0">
              <a:lnSpc>
                <a:spcPct val="115000"/>
              </a:lnSpc>
              <a:spcBef>
                <a:spcPts val="0"/>
              </a:spcBef>
              <a:spcAft>
                <a:spcPts val="400"/>
              </a:spcAft>
              <a:buClr>
                <a:srgbClr val="171717"/>
              </a:buClr>
              <a:buSzPts val="1200"/>
              <a:buFont typeface="Plus Jakarta Sans Light"/>
              <a:buAutoNum type="arabicPeriod"/>
            </a:pPr>
            <a:r>
              <a:rPr lang="es" sz="1200">
                <a:solidFill>
                  <a:srgbClr val="171717"/>
                </a:solidFill>
                <a:latin typeface="Plus Jakarta Sans Light"/>
                <a:ea typeface="Plus Jakarta Sans Light"/>
                <a:cs typeface="Plus Jakarta Sans Light"/>
                <a:sym typeface="Plus Jakarta Sans Light"/>
              </a:rPr>
              <a:t>Validá que el JSON de las dos corridas sea válido.</a:t>
            </a:r>
          </a:p>
          <a:p>
            <a:pPr marL="457200" lvl="0" indent="-304800" algn="l" rtl="0">
              <a:lnSpc>
                <a:spcPct val="115000"/>
              </a:lnSpc>
              <a:spcBef>
                <a:spcPts val="0"/>
              </a:spcBef>
              <a:spcAft>
                <a:spcPts val="400"/>
              </a:spcAft>
              <a:buClr>
                <a:srgbClr val="171717"/>
              </a:buClr>
              <a:buSzPts val="1200"/>
              <a:buFont typeface="Plus Jakarta Sans Light"/>
              <a:buAutoNum type="arabicPeriod"/>
            </a:pPr>
            <a:r>
              <a:rPr lang="es" sz="1200">
                <a:solidFill>
                  <a:srgbClr val="171717"/>
                </a:solidFill>
                <a:latin typeface="Plus Jakarta Sans Light"/>
                <a:ea typeface="Plus Jakarta Sans Light"/>
                <a:cs typeface="Plus Jakarta Sans Light"/>
                <a:sym typeface="Plus Jakarta Sans Light"/>
              </a:rPr>
              <a:t>Anotá en una línea qué cambió entre la versión 1 y la final.</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4000" b="1">
                <a:solidFill>
                  <a:srgbClr val="FF632B"/>
                </a:solidFill>
                <a:latin typeface="Plus Jakarta Sans ExtraBold"/>
                <a:ea typeface="Plus Jakarta Sans ExtraBold"/>
                <a:cs typeface="Plus Jakarta Sans ExtraBold"/>
                <a:sym typeface="Plus Jakarta Sans ExtraBold"/>
              </a:rPr>
              <a:t>Los pasos</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Cómo lo armás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400"/>
              </a:spcAft>
              <a:buClr>
                <a:srgbClr val="FF632B"/>
              </a:buClr>
              <a:buSzPts val="1150"/>
              <a:buFont typeface="Arial"/>
              <a:buChar char="•"/>
            </a:pPr>
            <a:r>
              <a:rPr lang="es" sz="1150" b="1">
                <a:solidFill>
                  <a:srgbClr val="171717"/>
                </a:solidFill>
                <a:latin typeface="Plus Jakarta Sans"/>
                <a:ea typeface="Plus Jakarta Sans"/>
                <a:cs typeface="Plus Jakarta Sans"/>
                <a:sym typeface="Plus Jakarta Sans"/>
              </a:rPr>
              <a:t>Estructura: </a:t>
            </a:r>
            <a:r>
              <a:rPr lang="es" sz="1150">
                <a:solidFill>
                  <a:srgbClr val="171717"/>
                </a:solidFill>
                <a:latin typeface="Plus Jakarta Sans Light"/>
                <a:ea typeface="Plus Jakarta Sans Light"/>
                <a:cs typeface="Plus Jakarta Sans Light"/>
                <a:sym typeface="Plus Jakarta Sans Light"/>
              </a:rPr>
              <a:t>se distinguen persona, contexto, tarea y formato.</a:t>
            </a:r>
          </a:p>
          <a:p>
            <a:pPr marL="285750" lvl="0" indent="-285750" algn="l" rtl="0">
              <a:lnSpc>
                <a:spcPct val="115000"/>
              </a:lnSpc>
              <a:spcBef>
                <a:spcPts val="0"/>
              </a:spcBef>
              <a:spcAft>
                <a:spcPts val="400"/>
              </a:spcAft>
              <a:buClr>
                <a:srgbClr val="FF632B"/>
              </a:buClr>
              <a:buSzPts val="1150"/>
              <a:buFont typeface="Arial"/>
              <a:buChar char="•"/>
            </a:pPr>
            <a:r>
              <a:rPr lang="es" sz="1150" b="1">
                <a:solidFill>
                  <a:srgbClr val="171717"/>
                </a:solidFill>
                <a:latin typeface="Plus Jakarta Sans"/>
                <a:ea typeface="Plus Jakarta Sans"/>
                <a:cs typeface="Plus Jakarta Sans"/>
                <a:sym typeface="Plus Jakarta Sans"/>
              </a:rPr>
              <a:t>Ejemplos: </a:t>
            </a:r>
            <a:r>
              <a:rPr lang="es" sz="1150">
                <a:solidFill>
                  <a:srgbClr val="171717"/>
                </a:solidFill>
                <a:latin typeface="Plus Jakarta Sans Light"/>
                <a:ea typeface="Plus Jakarta Sans Light"/>
                <a:cs typeface="Plus Jakarta Sans Light"/>
                <a:sym typeface="Plus Jakarta Sans Light"/>
              </a:rPr>
              <a:t>hay al menos dos que fijan tono y estructura.</a:t>
            </a:r>
          </a:p>
          <a:p>
            <a:pPr marL="285750" lvl="0" indent="-285750" algn="l" rtl="0">
              <a:lnSpc>
                <a:spcPct val="115000"/>
              </a:lnSpc>
              <a:spcBef>
                <a:spcPts val="0"/>
              </a:spcBef>
              <a:spcAft>
                <a:spcPts val="400"/>
              </a:spcAft>
              <a:buClr>
                <a:srgbClr val="FF632B"/>
              </a:buClr>
              <a:buSzPts val="1150"/>
              <a:buFont typeface="Arial"/>
              <a:buChar char="•"/>
            </a:pPr>
            <a:r>
              <a:rPr lang="es" sz="1150" b="1">
                <a:solidFill>
                  <a:srgbClr val="171717"/>
                </a:solidFill>
                <a:latin typeface="Plus Jakarta Sans"/>
                <a:ea typeface="Plus Jakarta Sans"/>
                <a:cs typeface="Plus Jakarta Sans"/>
                <a:sym typeface="Plus Jakarta Sans"/>
              </a:rPr>
              <a:t>Control de alucinaciones: </a:t>
            </a:r>
            <a:r>
              <a:rPr lang="es" sz="1150">
                <a:solidFill>
                  <a:srgbClr val="171717"/>
                </a:solidFill>
                <a:latin typeface="Plus Jakarta Sans Light"/>
                <a:ea typeface="Plus Jakarta Sans Light"/>
                <a:cs typeface="Plus Jakarta Sans Light"/>
                <a:sym typeface="Plus Jakarta Sans Light"/>
              </a:rPr>
              <a:t>el prompt prohíbe inventar y define qué hacer con un dato ausente.</a:t>
            </a:r>
          </a:p>
          <a:p>
            <a:pPr marL="285750" lvl="0" indent="-285750" algn="l" rtl="0">
              <a:lnSpc>
                <a:spcPct val="115000"/>
              </a:lnSpc>
              <a:spcBef>
                <a:spcPts val="0"/>
              </a:spcBef>
              <a:spcAft>
                <a:spcPts val="400"/>
              </a:spcAft>
              <a:buClr>
                <a:srgbClr val="FF632B"/>
              </a:buClr>
              <a:buSzPts val="1150"/>
              <a:buFont typeface="Arial"/>
              <a:buChar char="•"/>
            </a:pPr>
            <a:r>
              <a:rPr lang="es" sz="1150" b="1">
                <a:solidFill>
                  <a:srgbClr val="171717"/>
                </a:solidFill>
                <a:latin typeface="Plus Jakarta Sans"/>
                <a:ea typeface="Plus Jakarta Sans"/>
                <a:cs typeface="Plus Jakarta Sans"/>
                <a:sym typeface="Plus Jakarta Sans"/>
              </a:rPr>
              <a:t>Salida estructurada: </a:t>
            </a:r>
            <a:r>
              <a:rPr lang="es" sz="1150">
                <a:solidFill>
                  <a:srgbClr val="171717"/>
                </a:solidFill>
                <a:latin typeface="Plus Jakarta Sans Light"/>
                <a:ea typeface="Plus Jakarta Sans Light"/>
                <a:cs typeface="Plus Jakarta Sans Light"/>
                <a:sym typeface="Plus Jakarta Sans Light"/>
              </a:rPr>
              <a:t>el JSON es válido y viene solo, sin texto alrededor.</a:t>
            </a:r>
          </a:p>
          <a:p>
            <a:pPr marL="285750" lvl="0" indent="-285750" algn="l" rtl="0">
              <a:lnSpc>
                <a:spcPct val="115000"/>
              </a:lnSpc>
              <a:spcBef>
                <a:spcPts val="0"/>
              </a:spcBef>
              <a:spcAft>
                <a:spcPts val="400"/>
              </a:spcAft>
              <a:buClr>
                <a:srgbClr val="FF632B"/>
              </a:buClr>
              <a:buSzPts val="1150"/>
              <a:buFont typeface="Arial"/>
              <a:buChar char="•"/>
            </a:pPr>
            <a:r>
              <a:rPr lang="es" sz="1150" b="1">
                <a:solidFill>
                  <a:srgbClr val="171717"/>
                </a:solidFill>
                <a:latin typeface="Plus Jakarta Sans"/>
                <a:ea typeface="Plus Jakarta Sans"/>
                <a:cs typeface="Plus Jakarta Sans"/>
                <a:sym typeface="Plus Jakarta Sans"/>
              </a:rPr>
              <a:t>Reflexión: </a:t>
            </a:r>
            <a:r>
              <a:rPr lang="es" sz="1150">
                <a:solidFill>
                  <a:srgbClr val="171717"/>
                </a:solidFill>
                <a:latin typeface="Plus Jakarta Sans Light"/>
                <a:ea typeface="Plus Jakarta Sans Light"/>
                <a:cs typeface="Plus Jakarta Sans Light"/>
                <a:sym typeface="Plus Jakarta Sans Light"/>
              </a:rPr>
              <a:t>podés explicar qué componente hizo la diferencia.</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4000" b="1">
                <a:solidFill>
                  <a:srgbClr val="FF632B"/>
                </a:solidFill>
                <a:latin typeface="Plus Jakarta Sans ExtraBold"/>
                <a:ea typeface="Plus Jakarta Sans ExtraBold"/>
                <a:cs typeface="Plus Jakarta Sans ExtraBold"/>
                <a:sym typeface="Plus Jakarta Sans ExtraBold"/>
              </a:rPr>
              <a:t>¿Cómo se evalúa?</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Criterios del desafío</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Lo que ya tenés: </a:t>
            </a:r>
            <a:r>
              <a:rPr lang="es" sz="1200">
                <a:solidFill>
                  <a:srgbClr val="171717"/>
                </a:solidFill>
                <a:latin typeface="Plus Jakarta Sans Light"/>
                <a:ea typeface="Plus Jakarta Sans Light"/>
                <a:cs typeface="Plus Jakarta Sans Light"/>
                <a:sym typeface="Plus Jakarta Sans Light"/>
              </a:rPr>
              <a:t>un prompt profesional que devuelve datos estructurados y confiables.</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Módulo 2: </a:t>
            </a:r>
            <a:r>
              <a:rPr lang="es" sz="1200">
                <a:solidFill>
                  <a:srgbClr val="171717"/>
                </a:solidFill>
                <a:latin typeface="Plus Jakarta Sans Light"/>
                <a:ea typeface="Plus Jakarta Sans Light"/>
                <a:cs typeface="Plus Jakarta Sans Light"/>
                <a:sym typeface="Plus Jakarta Sans Light"/>
              </a:rPr>
              <a:t>automatizaciones y n8n, la herramienta donde ese prompt se convierte en un nodo dentro de un flujo.</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La conexión: </a:t>
            </a:r>
            <a:r>
              <a:rPr lang="es" sz="1200">
                <a:solidFill>
                  <a:srgbClr val="171717"/>
                </a:solidFill>
                <a:latin typeface="Plus Jakarta Sans Light"/>
                <a:ea typeface="Plus Jakarta Sans Light"/>
                <a:cs typeface="Plus Jakarta Sans Light"/>
                <a:sym typeface="Plus Jakarta Sans Light"/>
              </a:rPr>
              <a:t>hoy copiás y pegás el texto a mano. En n8n el flujo lo va a traer solo y le va a pasar el JSON al paso siguiente.</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Para llevar: </a:t>
            </a:r>
            <a:r>
              <a:rPr lang="es" sz="1200">
                <a:solidFill>
                  <a:srgbClr val="171717"/>
                </a:solidFill>
                <a:latin typeface="Plus Jakarta Sans Light"/>
                <a:ea typeface="Plus Jakarta Sans Light"/>
                <a:cs typeface="Plus Jakarta Sans Light"/>
                <a:sym typeface="Plus Jakarta Sans Light"/>
              </a:rPr>
              <a:t>el curso termina en un agente autónomo. Este prompt es su primera neurona.</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4000" b="1">
                <a:solidFill>
                  <a:srgbClr val="FF632B"/>
                </a:solidFill>
                <a:latin typeface="Plus Jakarta Sans ExtraBold"/>
                <a:ea typeface="Plus Jakarta Sans ExtraBold"/>
                <a:cs typeface="Plus Jakarta Sans ExtraBold"/>
                <a:sym typeface="Plus Jakarta Sans ExtraBold"/>
              </a:rPr>
              <a:t>¿Cómo sigue?</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Del prompt suelto al flujo automatizado</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¿Qué concepto quedó nublado? </a:t>
            </a:r>
            <a:r>
              <a:rPr lang="es" sz="1200">
                <a:solidFill>
                  <a:srgbClr val="171717"/>
                </a:solidFill>
                <a:latin typeface="Plus Jakarta Sans Light"/>
                <a:ea typeface="Plus Jakarta Sans Light"/>
                <a:cs typeface="Plus Jakarta Sans Light"/>
                <a:sym typeface="Plus Jakarta Sans Light"/>
              </a:rPr>
              <a:t>tokens, ventana de contexto o alucinaciones.</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¿Con qué caso propio </a:t>
            </a:r>
            <a:r>
              <a:rPr lang="es" sz="1200">
                <a:solidFill>
                  <a:srgbClr val="171717"/>
                </a:solidFill>
                <a:latin typeface="Plus Jakarta Sans Light"/>
                <a:ea typeface="Plus Jakarta Sans Light"/>
                <a:cs typeface="Plus Jakarta Sans Light"/>
                <a:sym typeface="Plus Jakarta Sans Light"/>
              </a:rPr>
              <a:t>vas a armar tu plantilla maestra?</a:t>
            </a:r>
          </a:p>
          <a:p>
            <a:pPr marL="285750" lvl="0" indent="-285750" algn="l" rtl="0">
              <a:lnSpc>
                <a:spcPct val="115000"/>
              </a:lnSpc>
              <a:spcBef>
                <a:spcPts val="0"/>
              </a:spcBef>
              <a:spcAft>
                <a:spcPts val="400"/>
              </a:spcAft>
              <a:buClr>
                <a:srgbClr val="FF632B"/>
              </a:buClr>
              <a:buSzPts val="1200"/>
              <a:buFont typeface="Arial"/>
              <a:buChar char="•"/>
            </a:pPr>
            <a:r>
              <a:rPr lang="es" sz="1200" b="1">
                <a:solidFill>
                  <a:srgbClr val="171717"/>
                </a:solidFill>
                <a:latin typeface="Plus Jakarta Sans"/>
                <a:ea typeface="Plus Jakarta Sans"/>
                <a:cs typeface="Plus Jakarta Sans"/>
                <a:sym typeface="Plus Jakarta Sans"/>
              </a:rPr>
              <a:t>¿Tenés un prompt </a:t>
            </a:r>
            <a:r>
              <a:rPr lang="es" sz="1200">
                <a:solidFill>
                  <a:srgbClr val="171717"/>
                </a:solidFill>
                <a:latin typeface="Plus Jakarta Sans Light"/>
                <a:ea typeface="Plus Jakarta Sans Light"/>
                <a:cs typeface="Plus Jakarta Sans Light"/>
                <a:sym typeface="Plus Jakarta Sans Light"/>
              </a:rPr>
              <a:t>que hayas intentado usar y no te haya dado el resultado esperado? Traelo.</a:t>
            </a: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4000" b="1">
                <a:solidFill>
                  <a:srgbClr val="FF632B"/>
                </a:solidFill>
                <a:latin typeface="Plus Jakarta Sans ExtraBold"/>
                <a:ea typeface="Plus Jakarta Sans ExtraBold"/>
                <a:cs typeface="Plus Jakarta Sans ExtraBold"/>
                <a:sym typeface="Plus Jakarta Sans ExtraBold"/>
              </a:rPr>
              <a:t>¿Preguntas?</a:t>
            </a: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2000">
                <a:solidFill>
                  <a:srgbClr val="171717"/>
                </a:solidFill>
                <a:latin typeface="Plus Jakarta Sans"/>
                <a:ea typeface="Plus Jakarta Sans"/>
                <a:cs typeface="Plus Jakarta Sans"/>
                <a:sym typeface="Plus Jakarta Sans"/>
              </a:rPr>
              <a:t>Abrimos micrófonos y chat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62"/>
          <p:cNvSpPr txBox="1"/>
          <p:nvPr/>
        </p:nvSpPr>
        <p:spPr>
          <a:xfrm>
            <a:off x="571500" y="2392650"/>
            <a:ext cx="6977400" cy="1500000"/>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 sz="4900">
                <a:solidFill>
                  <a:srgbClr val="F8F2E8"/>
                </a:solidFill>
                <a:latin typeface="Plus Jakarta Sans ExtraBold"/>
                <a:ea typeface="Plus Jakarta Sans ExtraBold"/>
                <a:cs typeface="Plus Jakarta Sans ExtraBold"/>
                <a:sym typeface="Plus Jakarta Sans ExtraBold"/>
              </a:rPr>
              <a:t>¡Gracias por </a:t>
            </a:r>
            <a:r>
              <a:rPr lang="es" sz="4900">
                <a:solidFill>
                  <a:srgbClr val="FDAB2E"/>
                </a:solidFill>
                <a:latin typeface="Plus Jakarta Sans ExtraBold"/>
                <a:ea typeface="Plus Jakarta Sans ExtraBold"/>
                <a:cs typeface="Plus Jakarta Sans ExtraBold"/>
                <a:sym typeface="Plus Jakarta Sans ExtraBold"/>
              </a:rPr>
              <a:t>estudiar </a:t>
            </a:r>
            <a:r>
              <a:rPr lang="es" sz="4900">
                <a:solidFill>
                  <a:srgbClr val="F8F2E8"/>
                </a:solidFill>
                <a:latin typeface="Plus Jakarta Sans ExtraBold"/>
                <a:ea typeface="Plus Jakarta Sans ExtraBold"/>
                <a:cs typeface="Plus Jakarta Sans ExtraBold"/>
                <a:sym typeface="Plus Jakarta Sans ExtraBold"/>
              </a:rPr>
              <a:t>con nosotros!</a:t>
            </a:r>
            <a:endParaRPr sz="4900">
              <a:solidFill>
                <a:srgbClr val="F8F2E8"/>
              </a:solidFill>
              <a:latin typeface="Plus Jakarta Sans ExtraBold"/>
              <a:ea typeface="Plus Jakarta Sans ExtraBold"/>
              <a:cs typeface="Plus Jakarta Sans ExtraBold"/>
              <a:sym typeface="Plus Jakarta Sans ExtraBold"/>
            </a:endParaRPr>
          </a:p>
        </p:txBody>
      </p:sp>
      <p:sp>
        <p:nvSpPr>
          <p:cNvPr id="479" name="Google Shape;479;p62"/>
          <p:cNvSpPr txBox="1"/>
          <p:nvPr/>
        </p:nvSpPr>
        <p:spPr>
          <a:xfrm>
            <a:off x="571500" y="3792150"/>
            <a:ext cx="8001000" cy="9063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600">
              <a:solidFill>
                <a:srgbClr val="F8F2E8"/>
              </a:solidFill>
              <a:latin typeface="Plus Jakarta Sans"/>
              <a:ea typeface="Plus Jakarta Sans"/>
              <a:cs typeface="Plus Jakarta Sans"/>
              <a:sym typeface="Plus Jakarta Sans"/>
            </a:endParaRPr>
          </a:p>
        </p:txBody>
      </p:sp>
      <p:pic>
        <p:nvPicPr>
          <p:cNvPr id="480" name="Google Shape;480;p62" title="Group 1321317428.png"/>
          <p:cNvPicPr preferRelativeResize="0"/>
          <p:nvPr/>
        </p:nvPicPr>
        <p:blipFill>
          <a:blip r:embed="rId2">
            <a:alphaModFix/>
          </a:blip>
          <a:stretch>
            <a:fillRect/>
          </a:stretch>
        </p:blipFill>
        <p:spPr>
          <a:xfrm>
            <a:off x="7711325" y="609525"/>
            <a:ext cx="861174" cy="857749"/>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2624</Words>
  <Application>Microsoft Office PowerPoint</Application>
  <PresentationFormat>Presentación en pantalla (16:9)</PresentationFormat>
  <Paragraphs>226</Paragraphs>
  <Slides>39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39</vt:i4>
      </vt:variant>
    </vt:vector>
  </HeadingPairs>
  <TitlesOfParts>
    <vt:vector size="44" baseType="lpstr">
      <vt:lpstr>Plus Jakarta Sans</vt:lpstr>
      <vt:lpstr>Plus Jakarta Sans ExtraBold</vt:lpstr>
      <vt:lpstr>Plus Jakarta Sans Light</vt:lpstr>
      <vt:lpstr>Arial</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Turi</dc:creator>
  <cp:lastModifiedBy>Turi</cp:lastModifiedBy>
  <cp:revision>1</cp:revision>
  <dcterms:modified xsi:type="dcterms:W3CDTF">2026-10-29T22:40:04Z</dcterms:modified>
</cp:coreProperties>
</file>